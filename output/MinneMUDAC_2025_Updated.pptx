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4c63abe851463e" /><Relationship Type="http://schemas.openxmlformats.org/officeDocument/2006/relationships/extended-properties" Target="/docProps/app.xml" Id="R681c0f976fa04340" /><Relationship Type="http://schemas.openxmlformats.org/officeDocument/2006/relationships/officeDocument" Target="/ppt/presentation.xml" Id="R828ccba265f8445a" /></Relationships>
</file>

<file path=ppt/presentation.xml><?xml version="1.0" encoding="utf-8"?>
<p:presentation xmlns:p="http://schemas.openxmlformats.org/presentationml/2006/main">
  <p:sldMasterIdLst>
    <p:sldMasterId xmlns:r="http://schemas.openxmlformats.org/officeDocument/2006/relationships" id="2147483648" r:id="R7e1f59c94c164464"/>
  </p:sldMasterIdLst>
  <p:notesMasterIdLst>
    <p:notesMasterId xmlns:r="http://schemas.openxmlformats.org/officeDocument/2006/relationships" r:id="R5f86a6f7840045b0"/>
  </p:notesMasterIdLst>
  <p:sldIdLst>
    <p:sldId xmlns:r="http://schemas.openxmlformats.org/officeDocument/2006/relationships" id="256" r:id="R402ce3b967784d4e"/>
    <p:sldId xmlns:r="http://schemas.openxmlformats.org/officeDocument/2006/relationships" id="257" r:id="R441291323ee4402a"/>
    <p:sldId xmlns:r="http://schemas.openxmlformats.org/officeDocument/2006/relationships" id="258" r:id="R39203e1b88744179"/>
    <p:sldId xmlns:r="http://schemas.openxmlformats.org/officeDocument/2006/relationships" id="259" r:id="Rf6039e80fd83497a"/>
    <p:sldId xmlns:r="http://schemas.openxmlformats.org/officeDocument/2006/relationships" id="260" r:id="R3c05ada24cd846a3"/>
    <p:sldId xmlns:r="http://schemas.openxmlformats.org/officeDocument/2006/relationships" id="261" r:id="Rc1bba8bf112c4031"/>
    <p:sldId xmlns:r="http://schemas.openxmlformats.org/officeDocument/2006/relationships" id="262" r:id="Ra817bf06014c443b"/>
    <p:sldId xmlns:r="http://schemas.openxmlformats.org/officeDocument/2006/relationships" id="263" r:id="R146cef4a1dd74495"/>
    <p:sldId xmlns:r="http://schemas.openxmlformats.org/officeDocument/2006/relationships" id="264" r:id="Ra4f82030a9404c6b"/>
    <p:sldId xmlns:r="http://schemas.openxmlformats.org/officeDocument/2006/relationships" id="265" r:id="R5b160c4f1a5c43d3"/>
    <p:sldId xmlns:r="http://schemas.openxmlformats.org/officeDocument/2006/relationships" id="266" r:id="R11f2d3c046b94b83"/>
    <p:sldId xmlns:r="http://schemas.openxmlformats.org/officeDocument/2006/relationships" id="267" r:id="R9eea5ef8736f4d3e"/>
    <p:sldId xmlns:r="http://schemas.openxmlformats.org/officeDocument/2006/relationships" id="268" r:id="R93949a2420064c9f"/>
    <p:sldId xmlns:r="http://schemas.openxmlformats.org/officeDocument/2006/relationships" id="269" r:id="R2c5399ae70a2478a"/>
    <p:sldId xmlns:r="http://schemas.openxmlformats.org/officeDocument/2006/relationships" id="270" r:id="Rb2ac919335ca40ce"/>
    <p:sldId xmlns:r="http://schemas.openxmlformats.org/officeDocument/2006/relationships" id="271" r:id="R85e78c76816d42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413653302743c2" /><Relationship Type="http://schemas.openxmlformats.org/officeDocument/2006/relationships/slideMaster" Target="/ppt/slideMasters/slideMaster1.xml" Id="R7e1f59c94c164464" /><Relationship Type="http://schemas.openxmlformats.org/officeDocument/2006/relationships/notesMaster" Target="/ppt/notesMasters/notesMaster1.xml" Id="R5f86a6f7840045b0" /><Relationship Type="http://schemas.openxmlformats.org/officeDocument/2006/relationships/presProps" Target="/ppt/presProps.xml" Id="Rd5172257b0e848c6" /><Relationship Type="http://schemas.openxmlformats.org/officeDocument/2006/relationships/tableStyles" Target="/ppt/tableStyles.xml" Id="Rae97c697f9224427" /><Relationship Type="http://schemas.openxmlformats.org/officeDocument/2006/relationships/slide" Target="/ppt/slides/slide1.xml" Id="R402ce3b967784d4e" /><Relationship Type="http://schemas.openxmlformats.org/officeDocument/2006/relationships/slide" Target="/ppt/slides/slide2.xml" Id="R441291323ee4402a" /><Relationship Type="http://schemas.openxmlformats.org/officeDocument/2006/relationships/slide" Target="/ppt/slides/slide3.xml" Id="R39203e1b88744179" /><Relationship Type="http://schemas.openxmlformats.org/officeDocument/2006/relationships/slide" Target="/ppt/slides/slide4.xml" Id="Rf6039e80fd83497a" /><Relationship Type="http://schemas.openxmlformats.org/officeDocument/2006/relationships/slide" Target="/ppt/slides/slide5.xml" Id="R3c05ada24cd846a3" /><Relationship Type="http://schemas.openxmlformats.org/officeDocument/2006/relationships/slide" Target="/ppt/slides/slide6.xml" Id="Rc1bba8bf112c4031" /><Relationship Type="http://schemas.openxmlformats.org/officeDocument/2006/relationships/slide" Target="/ppt/slides/slide7.xml" Id="Ra817bf06014c443b" /><Relationship Type="http://schemas.openxmlformats.org/officeDocument/2006/relationships/slide" Target="/ppt/slides/slide8.xml" Id="R146cef4a1dd74495" /><Relationship Type="http://schemas.openxmlformats.org/officeDocument/2006/relationships/slide" Target="/ppt/slides/slide9.xml" Id="Ra4f82030a9404c6b" /><Relationship Type="http://schemas.openxmlformats.org/officeDocument/2006/relationships/slide" Target="/ppt/slides/slide10.xml" Id="R5b160c4f1a5c43d3" /><Relationship Type="http://schemas.openxmlformats.org/officeDocument/2006/relationships/slide" Target="/ppt/slides/slide11.xml" Id="R11f2d3c046b94b83" /><Relationship Type="http://schemas.openxmlformats.org/officeDocument/2006/relationships/slide" Target="/ppt/slides/slide12.xml" Id="R9eea5ef8736f4d3e" /><Relationship Type="http://schemas.openxmlformats.org/officeDocument/2006/relationships/slide" Target="/ppt/slides/slide13.xml" Id="R93949a2420064c9f" /><Relationship Type="http://schemas.openxmlformats.org/officeDocument/2006/relationships/slide" Target="/ppt/slides/slide14.xml" Id="R2c5399ae70a2478a" /><Relationship Type="http://schemas.openxmlformats.org/officeDocument/2006/relationships/slide" Target="/ppt/slides/slide15.xml" Id="Rb2ac919335ca40ce" /><Relationship Type="http://schemas.openxmlformats.org/officeDocument/2006/relationships/slide" Target="/ppt/slides/slide16.xml" Id="R85e78c76816d42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0d817a984f44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1a4fde94204eb4" /><Relationship Type="http://schemas.openxmlformats.org/officeDocument/2006/relationships/notesMaster" Target="/ppt/notesMasters/notesMaster1.xml" Id="R1489b8ba409341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05bdd2dc854a1b" /><Relationship Type="http://schemas.openxmlformats.org/officeDocument/2006/relationships/notesMaster" Target="/ppt/notesMasters/notesMaster1.xml" Id="R960b992e0be745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d9b8c32ede495e" /><Relationship Type="http://schemas.openxmlformats.org/officeDocument/2006/relationships/notesMaster" Target="/ppt/notesMasters/notesMaster1.xml" Id="Ra60ba56a371a49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7a9f14bf414b06" /><Relationship Type="http://schemas.openxmlformats.org/officeDocument/2006/relationships/notesMaster" Target="/ppt/notesMasters/notesMaster1.xml" Id="R805ab8017bd24f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28d8c629d64608" /><Relationship Type="http://schemas.openxmlformats.org/officeDocument/2006/relationships/notesMaster" Target="/ppt/notesMasters/notesMaster1.xml" Id="R3187aed5e19f46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4856a717764099" /><Relationship Type="http://schemas.openxmlformats.org/officeDocument/2006/relationships/notesMaster" Target="/ppt/notesMasters/notesMaster1.xml" Id="R16676196b7644c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cfe2806e114af4" /><Relationship Type="http://schemas.openxmlformats.org/officeDocument/2006/relationships/notesMaster" Target="/ppt/notesMasters/notesMaster1.xml" Id="Re4c339eb352344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67fd2025d24840" /><Relationship Type="http://schemas.openxmlformats.org/officeDocument/2006/relationships/notesMaster" Target="/ppt/notesMasters/notesMaster1.xml" Id="Rf513f7cd6a2944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267b944bd34852" /><Relationship Type="http://schemas.openxmlformats.org/officeDocument/2006/relationships/notesMaster" Target="/ppt/notesMasters/notesMaster1.xml" Id="R48867728b5d04a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ba207e56e14d20" /><Relationship Type="http://schemas.openxmlformats.org/officeDocument/2006/relationships/notesMaster" Target="/ppt/notesMasters/notesMaster1.xml" Id="Ra1a501c336724f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b1d482897647ca" /><Relationship Type="http://schemas.openxmlformats.org/officeDocument/2006/relationships/notesMaster" Target="/ppt/notesMasters/notesMaster1.xml" Id="Rcbc8aaee6ce340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bdadbd974c4e54" /><Relationship Type="http://schemas.openxmlformats.org/officeDocument/2006/relationships/notesMaster" Target="/ppt/notesMasters/notesMaster1.xml" Id="R805da252528443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55082513894bd5" /><Relationship Type="http://schemas.openxmlformats.org/officeDocument/2006/relationships/notesMaster" Target="/ppt/notesMasters/notesMaster1.xml" Id="R5d81b3c827fd42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6c52c989274e60" /><Relationship Type="http://schemas.openxmlformats.org/officeDocument/2006/relationships/notesMaster" Target="/ppt/notesMasters/notesMaster1.xml" Id="R6d5dd4f056294a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d8e7a1eb114223" /><Relationship Type="http://schemas.openxmlformats.org/officeDocument/2006/relationships/notesMaster" Target="/ppt/notesMasters/notesMaster1.xml" Id="R3fd6164317d647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d66fd0cdae4d2c" /><Relationship Type="http://schemas.openxmlformats.org/officeDocument/2006/relationships/notesMaster" Target="/ppt/notesMasters/notesMaster1.xml" Id="Rbedaaddb14ac46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MinneMUDAC 2025, Team U37. Updated September 30, 2026 for project judges and Big Brothers Big Sisters stakeholders. Photo: repository asset BI Dashboard/Powerpoint/bbb pic.jpg. The image illustrates BBB branding and does not establish participant identity or project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Data Sources.docx; MUDAC/DataDictionary.xlsx; MUDAC/Training_with_Life_Events.xlsx; MUDAC/Test_Truncated.xlsx; MUDAC/Novice.xlsx.</a:t>
            </a:r>
          </a:p>
          <a:p xmlns:a="http://schemas.openxmlformats.org/drawingml/2006/main">
            <a:r>
              <a:t>Repository: MUDAC/Apr3TrainRun1LLMFlattened1.xlsx. Aggregates calculated September 30, 2026. Count a row when the event column is numeric and greater than zero. Repeated events for one match remain separate rows. These are machine-extracted labels, without a measured annotation accuracy in the repository.</a:t>
            </a:r>
          </a:p>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The project aims to reduce manual reading effort and make support signals visible. No measured staff time savings, operational intervention benefit, or event extraction accuracy is available. The summary describes implemented artifacts and a proposed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Data Sources.docx; MUDAC/DataDictionary.xlsx; MUDAC/Training_with_Life_Events.xlsx; MUDAC/Test_Truncated.xlsx; MUDAC/Novice.xlsx.</a:t>
            </a:r>
          </a:p>
          <a:p xmlns:a="http://schemas.openxmlformats.org/drawingml/2006/main">
            <a:r>
              <a:t>Training_with_Life_Events.xlsx contains 39,345 rows. Test_Truncated.xlsx contains 2,566 rows and 300 distinct Match IDs. Novice.xlsx contains 3,275 distinct matches. The data source brief says the challenge removes recent note instances and withholds closure fields and Match Length from the test input. The saved flattened extraction contains 25,050 rows covering all 3,275 distinct match IDs. MUDAC/ML_Training_Test_Dataset.xlsx and Completed Test Dataset.xlsx each contain 1,705 processed rows for 300 matches; their names alone do not establish original training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Data Sources.docx; MUDAC/DataDictionary.xlsx; MUDAC/Training_with_Life_Events.xlsx; MUDAC/Test_Truncated.xlsx; MUDAC/Novice.xlsx.</a:t>
            </a:r>
          </a:p>
          <a:p xmlns:a="http://schemas.openxmlformats.org/drawingml/2006/main">
            <a:r>
              <a:t>Computed from MUDAC/Novice.xlsx. One row per match, n=3,275. Stage counts: Closed 2,486, Active 774, Pending Closure 15. Closed-match duration: median 15.7 months, mean 20.7371 months, interquartile range 8.7–28.2 months. Active matches are still ongoing and should not be interpreted as final-duration observations. The chart and figures describe this repository snapshot, not current BBB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Repository evidence also includes MUDAC/Geo/GeoCode.ipynb, MUDAC/Geo/mn_block_group_centroids.csv, CensusACSBlockGroup(CensusACSBlockGroup).csv, notebooks under MUDAC/Completed, and BI Dashboard/PowerBi BBB Dashboard.pbix. Saved spreadsheets demonstrate intermediate work. These files do not prove the standalone Python pipeline runs from end to end without repairs. Automated calling, speech transcription, MatchForce API integration and live alerts appear as proposed capabilities in existing slides, without an implemented integration in the reviewed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This is a synthetic example written for this presentation. It is not an actual participant note or a real Grok output. Event name follows EXPECTED_EVENT_COLUMNS. Counts and severity illustrate the output contract and should not be read as validated risk probabilities. The current prompt uses a list of event objects despite wording that says object. The extractor validates allowed event names and a severity range of 1–5 for present events. Dates in saved flattened artifacts are separate from the shown output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MUDAC/Apr3TrainRun1LLMFlattened1.xlsx. Aggregates calculated September 30, 2026. Count a row when the event column is numeric and greater than zero. Repeated events for one match remain separate rows. These are machine-extracted labels, without a measured annotation accuracy in the repository.</a:t>
            </a:r>
          </a:p>
          <a:p xmlns:a="http://schemas.openxmlformats.org/drawingml/2006/main">
            <a:r>
              <a:t>Top six event columns: COVID impact 3,758; Match closure Discussed 2,237; Child/Family: Lost contact with volunteer 1,552; Child/Family: Moved 1,201; Child/Family: Time constraints 994; Changing Match Type 866. Each is a count of rows with a severity greater than zero out of 25,050 extracted rows, not distinct matches, closure rates, or validated causes of termination. Event fields can overlap in the same row. Closure discussions and events recorded late in a match need strict temporal treatment in predictive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MUDAC/Apr3TrainRun1LLMFlattened1.xlsx. Aggregates calculated September 30, 2026. Count a row when the event column is numeric and greater than zero. Repeated events for one match remain separate rows. These are machine-extracted labels, without a measured annotation accuracy in the repository.</a:t>
            </a:r>
          </a:p>
          <a:p xmlns:a="http://schemas.openxmlformats.org/drawingml/2006/main">
            <a:r>
              <a:t>The suggested responses are project recommendations, not measured interventions or formal BBB policy. They connect common extracted event categories with questions a coordinator could investigate. A label alone is insufficient to infer a family circumstance, assign blame or make an automated closure decision. Existing escalation procedures govern safety concerns.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MUDAC/Completed/ML Training Normal.ipynb, saved output cell 5 and source cells 0–5; MUDAC/minnie_mudac.ipynb, saved output and source cell 1. Match Length in Months from MUDAC/DataDictionary.xlsx. Results are saved historical notebook outputs, not new training runs.</a:t>
            </a:r>
          </a:p>
          <a:p xmlns:a="http://schemas.openxmlformats.org/drawingml/2006/main">
            <a:r>
              <a:t>RandomForestRegressor: cross-validation RMSE 2.7296, held-out test RMSE 2.8893. minnie_mudac.ipynb: five-fold mean RMSE 6.57, MAE 3.94, R² 0.8900. The experiments reference different input workbook paths, and the repository does not establish identical cohorts or observation cutoffs. ML Completed Subset.xlsx is missing. Both notebooks fit some preprocessing before splitting or cross-validation. LSTM hyperparameters are selected on one of the folds then reused across five-fold reporting. These limitations prevent a defensible head-to-head comparison or deployment accuracy claim. No saved performance output for the standalone advanced ensemble script was located.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MUDAC/Completed/ML Training Normal.ipynb, saved output cell 5 and source cells 0–5; MUDAC/minnie_mudac.ipynb, saved output and source cell 1. Match Length in Months from MUDAC/DataDictionary.xlsx. Results are saved historical notebook outputs, not new training runs.</a:t>
            </a:r>
          </a:p>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Evidence: preprocessing is fitted before model splitting in advanced_ml_training.py line 600 and before the five-fold loop in minnie_mudac.ipynb. The normal notebook imputes before its match-level split and aggregates max_update_days, note count and closure-discussion labels. Whole histories may reveal final duration rather than information available at an early prediction point. Advanced script retains object and numeric columns without an explicit inference-time allowlist and uses whole-match aggregates. Dataset includes Active matches whose recorded elapsed length is censored. Proposed benchmark must hold out matches and observation time, fit preprocessing only on training folds, exclude future data and closure-only fields, compare simple baselines and evaluate by program subgroup.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BI Dashboard/PowerBi BBB Dashboard.pbix. Screenshot: extracted image46.png from MUDAC/Presentation/Draft Data Stompers.pptx. This is an existing saved dashboard view, not a live refreshed report. Its filters, dates, counts and chart scales may differ from the workbook aggregates elsewhere in this deck. The screenshot shows event severity trends and flag totals without participant-level records. Dual axes and temporal correlations should not be interpreted as causal relationships or intervention benefit. No Power BI refresh or external service integration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README.md judge feedback: "LLM Calling is an interesting idea - but consider cost of implementations." Grok Prompt Pipeline/grok_prompt_processor.py query_grok passes accumulated conversation_history and uses max_tokens=1000. History therefore adds input tokens across successive calls within a match. The repository does not include a complete cost ledger, cached-input accounting, per-successful-record cost, or measured staff time savings. Recommendations and the formula are proposed accounting steps, not reported financial outcomes. No current model pricing is quoted.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README.md, Competition Results section. Team U37 Round 1 overall score 60.29/80. Reported all-team mean 57.2. Rubric scores: Creativity &amp; Innovation 3.50, Communication of Outcomes &amp; Team Synergy 3.10, Prediction 3.03, Impact of Important Factors 3.00, Completeness &amp; Breadth of Outcome 2.80, Appropriateness of Analytical Methods 2.80. Source score sheet is not present, so these remain README-reported results. No percentile or ranking assertion is included. Quoted judge feedback is as recorded in the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based on repository review, not a scheduled or approved deployment. Suggested owners: technical team for pipeline repair and model benchmark, coordinators for label review, BBB project sponsor for pilot decision. Before any external processing of real support notes, resolve credential handling and confirm approved data handling. A staff-reviewed evaluation should measure event precision and recall on an annotated sample, review time, alert burden, cost per reviewed match and subgroup performance. A future pilot decision should follow agreed thresholds rather than thresholds invented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step: a limited pilot with coordinator review after pipeline fixes and independent benchmarking. Repository evidence supports an exploratory workflow, not automated closure decisions, established early-warning performance or measured improvement in youth outcomes. Proposed extensions should be considered after reliable extraction, valid prediction testing and usage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Grok Prompt Pipeline/grok_prompt_processor.py; ML Pipeline/advanced_ml_training.py. Static review plus local synthetic checks of JSON flattening and error recording. No API calls or retraining.</a:t>
            </a:r>
          </a:p>
          <a:p xmlns:a="http://schemas.openxmlformats.org/drawingml/2006/main">
            <a:r>
              <a:t>Detailed findings and exact locations are in output/Repository_Review.md. A hard-coded credential exists at grok_prompt_processor.py line 23. Its value is intentionally omitted. Default input paths reference absent files. Synthetic reproduction: flatten_json_responses given a Series of one-element response lists raises ValueError because events is not a normalized top-level column. Synthetic failure reproduction: process_row logs a simulated query failure by rebinding a local error_df and returns None, leaving the caller's error ledger empty. Sequence construction pads at the end, while tree models use X_train_seq[:, -1, :], selecting padding for shorter histories. Attention lacks a padding mask. These observations concern current code, not a new full pipeline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fa434a299243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178f8e38044262" /><Relationship Type="http://schemas.openxmlformats.org/officeDocument/2006/relationships/slideLayout" Target="/ppt/slideLayouts/slideLayout1.xml" Id="R70945dec2d7441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945dec2d7441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e374777d3d4cf9" /><Relationship Type="http://schemas.openxmlformats.org/officeDocument/2006/relationships/image" Target="/ppt/media/image.jpeg" Id="R7e399a0699f74f2a" /><Relationship Type="http://schemas.openxmlformats.org/officeDocument/2006/relationships/notesSlide" Target="/ppt/notesSlides/notesSlide1.xml" Id="Rca634b44330e40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d456bcc7314447" /><Relationship Type="http://schemas.openxmlformats.org/officeDocument/2006/relationships/notesSlide" Target="/ppt/notesSlides/notesSlide2.xml" Id="R061adca9e9884c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af282e776a409a" /><Relationship Type="http://schemas.openxmlformats.org/officeDocument/2006/relationships/notesSlide" Target="/ppt/notesSlides/notesSlide3.xml" Id="R71d18edd926346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d8c4b4dbdd4bff" /><Relationship Type="http://schemas.openxmlformats.org/officeDocument/2006/relationships/chart" Target="/ppt/slides/charts/chart1.xml" Id="Rc95f022d323741e8" /><Relationship Type="http://schemas.openxmlformats.org/officeDocument/2006/relationships/notesSlide" Target="/ppt/notesSlides/notesSlide4.xml" Id="R10f51c38e4f147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878ca65f73486b" /><Relationship Type="http://schemas.openxmlformats.org/officeDocument/2006/relationships/notesSlide" Target="/ppt/notesSlides/notesSlide5.xml" Id="R419db0de29ed4e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eb57c72da242f9" /><Relationship Type="http://schemas.openxmlformats.org/officeDocument/2006/relationships/notesSlide" Target="/ppt/notesSlides/notesSlide6.xml" Id="R797a97a8227148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cc8c7e17414efb" /><Relationship Type="http://schemas.openxmlformats.org/officeDocument/2006/relationships/chart" Target="/ppt/slides/charts/chart2.xml" Id="R949bb5dcd04f4cbd" /><Relationship Type="http://schemas.openxmlformats.org/officeDocument/2006/relationships/notesSlide" Target="/ppt/notesSlides/notesSlide7.xml" Id="Re78a315947634f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c929081b7c4be9" /><Relationship Type="http://schemas.openxmlformats.org/officeDocument/2006/relationships/notesSlide" Target="/ppt/notesSlides/notesSlide8.xml" Id="Re135828d72fa4b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25a26ab343410c" /><Relationship Type="http://schemas.openxmlformats.org/officeDocument/2006/relationships/notesSlide" Target="/ppt/notesSlides/notesSlide9.xml" Id="Rd23c8e37d3934e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80b2d6b6eb427f" /><Relationship Type="http://schemas.openxmlformats.org/officeDocument/2006/relationships/notesSlide" Target="/ppt/notesSlides/notesSlide10.xml" Id="R9b7b1d6702aa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3594fee0a445a3" /><Relationship Type="http://schemas.openxmlformats.org/officeDocument/2006/relationships/image" Target="/ppt/media/image.png" Id="Rf9eef59d0c4f4794" /><Relationship Type="http://schemas.openxmlformats.org/officeDocument/2006/relationships/notesSlide" Target="/ppt/notesSlides/notesSlide11.xml" Id="Rc7401549084347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297601e83f435e" /><Relationship Type="http://schemas.openxmlformats.org/officeDocument/2006/relationships/notesSlide" Target="/ppt/notesSlides/notesSlide12.xml" Id="Rdd5c95c3938348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01f3199e504418" /><Relationship Type="http://schemas.openxmlformats.org/officeDocument/2006/relationships/notesSlide" Target="/ppt/notesSlides/notesSlide13.xml" Id="R2684da87064e4f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8e8b9558f049d9" /><Relationship Type="http://schemas.openxmlformats.org/officeDocument/2006/relationships/notesSlide" Target="/ppt/notesSlides/notesSlide14.xml" Id="Rced84674339840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37dae78e9748a1" /><Relationship Type="http://schemas.openxmlformats.org/officeDocument/2006/relationships/notesSlide" Target="/ppt/notesSlides/notesSlide15.xml" Id="Rb8d7ce9fd57c4f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c83f0bb6864e46" /><Relationship Type="http://schemas.openxmlformats.org/officeDocument/2006/relationships/notesSlide" Target="/ppt/notesSlides/notesSlide16.xml" Id="Rfaf6497a34b544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Matches</c:v>
          </c:tx>
          <c:spPr>
            <a:solidFill xmlns:a="http://schemas.openxmlformats.org/drawingml/2006/main">
              <a:srgbClr val="007D55"/>
            </a:solidFill>
          </c:spPr>
          <c:cat>
            <c:strRef>
              <c:f>'Chart Data'!$A$2:$A$4</c:f>
              <c:strCache>
                <c:ptCount val="3"/>
                <c:pt idx="0">
                  <c:v>Closed</c:v>
                </c:pt>
                <c:pt idx="1">
                  <c:v>Active</c:v>
                </c:pt>
                <c:pt idx="2">
                  <c:v>Pending closure</c:v>
                </c:pt>
              </c:strCache>
            </c:strRef>
          </c:cat>
          <c:val>
            <c:numRef>
              <c:f>'Chart Data'!$B$2:$B$4</c:f>
              <c:numCache>
                <c:formatCode>0</c:formatCode>
                <c:ptCount val="3"/>
                <c:pt idx="0">
                  <c:v>2486</c:v>
                </c:pt>
                <c:pt idx="1">
                  <c:v>774</c:v>
                </c:pt>
                <c:pt idx="2">
                  <c:v>15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6251E"/>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9525">
              <a:solidFill>
                <a:srgbClr val="D8E0D9"/>
              </a:solidFill>
            </a:ln>
          </c:spPr>
        </c:majorGridlines>
        <c:title>
          <c:tx>
            <c:rich>
              <a:bodyPr xmlns:a="http://schemas.openxmlformats.org/drawingml/2006/main"/>
              <a:lstStyle xmlns:a="http://schemas.openxmlformats.org/drawingml/2006/main"/>
              <a:p xmlns:a="http://schemas.openxmlformats.org/drawingml/2006/main">
                <a:r>
                  <a:rPr sz="1650">
                    <a:solidFill>
                      <a:srgbClr val="52645A"/>
                    </a:solidFill>
                    <a:latin typeface="Arial"/>
                    <a:ea typeface="Arial"/>
                    <a:cs typeface="Arial"/>
                  </a:rPr>
                  <a:t>Matches</a:t>
                </a:r>
              </a:p>
            </c:rich>
          </c:tx>
          <c:overlay val="0"/>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2645A"/>
                </a:solidFill>
                <a:latin typeface="Arial"/>
                <a:ea typeface="Arial"/>
                <a:cs typeface="Arial"/>
              </a:defRPr>
            </a:pPr>
          </a:p>
        </c:txPr>
        <c:crossAx val="48650112"/>
        <c:crossBetween val="between"/>
        <c:majorUnit val="1000"/>
      </c:valAx>
      <c:spPr>
        <a:solidFill xmlns:a="http://schemas.openxmlformats.org/drawingml/2006/main">
          <a:srgbClr val="F5F6F2"/>
        </a:solidFill>
        <a:ln xmlns:a="http://schemas.openxmlformats.org/drawingml/2006/main" w="0">
          <a:noFill/>
        </a:ln>
      </c:spPr>
    </c:plotArea>
    <c:plotVisOnly val="1"/>
  </c:chart>
  <c:spPr>
    <a:solidFill xmlns:a="http://schemas.openxmlformats.org/drawingml/2006/main">
      <a:srgbClr val="F5F6F2"/>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Count</c:v>
          </c:tx>
          <c:spPr>
            <a:solidFill xmlns:a="http://schemas.openxmlformats.org/drawingml/2006/main">
              <a:srgbClr val="007D55"/>
            </a:solidFill>
          </c:spPr>
          <c:cat>
            <c:strRef>
              <c:f>'Chart Data'!$A$2:$A$7</c:f>
              <c:strCache>
                <c:ptCount val="6"/>
                <c:pt idx="0">
                  <c:v>Match type changed</c:v>
                </c:pt>
                <c:pt idx="1">
                  <c:v>Family time constraints</c:v>
                </c:pt>
                <c:pt idx="2">
                  <c:v>Family moved</c:v>
                </c:pt>
                <c:pt idx="3">
                  <c:v>Family lost contact with volunteer</c:v>
                </c:pt>
                <c:pt idx="4">
                  <c:v>Closure discussed</c:v>
                </c:pt>
                <c:pt idx="5">
                  <c:v>COVID impact</c:v>
                </c:pt>
              </c:strCache>
            </c:strRef>
          </c:cat>
          <c:val>
            <c:numRef>
              <c:f>'Chart Data'!$B$2:$B$7</c:f>
              <c:numCache>
                <c:formatCode>0</c:formatCode>
                <c:ptCount val="6"/>
                <c:pt idx="0">
                  <c:v>866</c:v>
                </c:pt>
                <c:pt idx="1">
                  <c:v>994</c:v>
                </c:pt>
                <c:pt idx="2">
                  <c:v>1201</c:v>
                </c:pt>
                <c:pt idx="3">
                  <c:v>1552</c:v>
                </c:pt>
                <c:pt idx="4">
                  <c:v>2237</c:v>
                </c:pt>
                <c:pt idx="5">
                  <c:v>3758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6251E"/>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crossAx val="48672768"/>
      </c:catAx>
      <c:valAx>
        <c:axId val="48672768"/>
        <c:scaling>
          <c:orientation val="minMax"/>
          <c:max val="4500"/>
          <c:min val="0"/>
        </c:scaling>
        <c:delete val="0"/>
        <c:axPos val="b"/>
        <c:majorGridlines>
          <c:spPr>
            <a:ln xmlns:a="http://schemas.openxmlformats.org/drawingml/2006/main" w="9525">
              <a:solidFill>
                <a:srgbClr val="D8E0D9"/>
              </a:solidFill>
            </a:ln>
          </c:spPr>
        </c:majorGridlines>
        <c:title>
          <c:tx>
            <c:rich>
              <a:bodyPr xmlns:a="http://schemas.openxmlformats.org/drawingml/2006/main"/>
              <a:lstStyle xmlns:a="http://schemas.openxmlformats.org/drawingml/2006/main"/>
              <a:p xmlns:a="http://schemas.openxmlformats.org/drawingml/2006/main">
                <a:r>
                  <a:rPr sz="1650">
                    <a:solidFill>
                      <a:srgbClr val="52645A"/>
                    </a:solidFill>
                    <a:latin typeface="Arial"/>
                    <a:ea typeface="Arial"/>
                    <a:cs typeface="Arial"/>
                  </a:rPr>
                  <a:t>Rows with an event</a:t>
                </a:r>
              </a:p>
            </c:rich>
          </c:tx>
          <c:overlay val="0"/>
          <c:txPr>
            <a:bodyPr xmlns:a="http://schemas.openxmlformats.org/drawingml/2006/main" anchorCtr="1"/>
            <a:lstStyle xmlns:a="http://schemas.openxmlformats.org/drawingml/2006/main"/>
            <a:p xmlns:a="http://schemas.openxmlformats.org/drawingml/2006/main">
              <a:pPr>
                <a:defRPr sz="1650">
                  <a:solidFill>
                    <a:srgbClr val="52645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2645A"/>
                </a:solidFill>
                <a:latin typeface="Arial"/>
                <a:ea typeface="Arial"/>
                <a:cs typeface="Arial"/>
              </a:defRPr>
            </a:pPr>
          </a:p>
        </c:txPr>
        <c:crossAx val="48650112"/>
        <c:crossBetween val="between"/>
        <c:majorUnit val="1000"/>
      </c:valAx>
      <c:spPr>
        <a:solidFill xmlns:a="http://schemas.openxmlformats.org/drawingml/2006/main">
          <a:srgbClr val="F5F6F2"/>
        </a:solidFill>
        <a:ln xmlns:a="http://schemas.openxmlformats.org/drawingml/2006/main" w="0">
          <a:noFill/>
        </a:ln>
      </c:spPr>
    </c:plotArea>
    <c:plotVisOnly val="1"/>
  </c:chart>
  <c:spPr>
    <a:solidFill xmlns:a="http://schemas.openxmlformats.org/drawingml/2006/main">
      <a:srgbClr val="F5F6F2"/>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B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983672-3D44-49CF-B9FD-49C79D680C1F}"/>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B7AA"/>
                </a:solidFill>
                <a:latin typeface="Arial"/>
                <a:ea typeface="Arial"/>
                <a:cs typeface="Arial"/>
              </a:defRPr>
            </a:pPr>
            <a:r>
              <a:rPr sz="1200" b="0">
                <a:solidFill>
                  <a:srgbClr val="A5B7AA"/>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607D2899-D0A7-4011-AD44-B1326E12CF15}"/>
              </a:ext>
            </a:extLst>
          </p:cNvPr>
          <p:cNvSpPr>
            <a:spLocks xmlns:a="http://schemas.openxmlformats.org/drawingml/2006/main" noGrp="1"/>
          </p:cNvSpPr>
          <p:nvPr/>
        </p:nvSpPr>
        <p:spPr>
          <a:xfrm xmlns:a="http://schemas.openxmlformats.org/drawingml/2006/main">
            <a:off x="609600" y="876300"/>
            <a:ext cx="6572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Mentorship</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match analytics</a:t>
            </a:r>
          </a:p>
        </p:txBody>
      </p:sp>
      <p:sp>
        <p:nvSpPr>
          <p:cNvPr id="3" name="">
            <a:extLst xmlns:a="http://schemas.openxmlformats.org/drawingml/2006/main">
              <a:ext uri="{FF2B5EF4-FFF2-40B4-BE49-F238E27FC236}">
                <a16:creationId xmlns:a16="http://schemas.microsoft.com/office/drawing/2014/main" id="{86E6CF23-31EF-4953-B9AD-ED57834E243B}"/>
              </a:ext>
            </a:extLst>
          </p:cNvPr>
          <p:cNvSpPr>
            <a:spLocks xmlns:a="http://schemas.openxmlformats.org/drawingml/2006/main" noGrp="1"/>
          </p:cNvSpPr>
          <p:nvPr/>
        </p:nvSpPr>
        <p:spPr>
          <a:xfrm xmlns:a="http://schemas.openxmlformats.org/drawingml/2006/main">
            <a:off x="647700" y="29527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00D58B"/>
                </a:solidFill>
                <a:latin typeface="Arial"/>
                <a:ea typeface="Arial"/>
                <a:cs typeface="Arial"/>
              </a:defRPr>
            </a:pPr>
            <a:r>
              <a:rPr sz="2250" b="0">
                <a:solidFill>
                  <a:srgbClr val="00D58B"/>
                </a:solidFill>
                <a:latin typeface="Arial"/>
                <a:ea typeface="Arial"/>
                <a:cs typeface="Arial"/>
              </a:rPr>
              <a:t>Big Brothers Big Sisters</a:t>
            </a:r>
          </a:p>
        </p:txBody>
      </p:sp>
      <p:sp>
        <p:nvSpPr>
          <p:cNvPr id="4" name="">
            <a:extLst xmlns:a="http://schemas.openxmlformats.org/drawingml/2006/main">
              <a:ext uri="{FF2B5EF4-FFF2-40B4-BE49-F238E27FC236}">
                <a16:creationId xmlns:a16="http://schemas.microsoft.com/office/drawing/2014/main" id="{4C72EEB5-F1FA-414F-AD46-1873CB31CF70}"/>
              </a:ext>
            </a:extLst>
          </p:cNvPr>
          <p:cNvSpPr>
            <a:spLocks xmlns:a="http://schemas.openxmlformats.org/drawingml/2006/main" noGrp="1"/>
          </p:cNvSpPr>
          <p:nvPr/>
        </p:nvSpPr>
        <p:spPr>
          <a:xfrm xmlns:a="http://schemas.openxmlformats.org/drawingml/2006/main">
            <a:off x="647700" y="3590925"/>
            <a:ext cx="600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Support notes, match duration</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and staff decision support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e399a0699f74f2a"/>
          <a:stretch xmlns:a="http://schemas.openxmlformats.org/drawingml/2006/main"/>
        </p:blipFill>
        <p:spPr>
          <a:xfrm xmlns:a="http://schemas.openxmlformats.org/drawingml/2006/main">
            <a:off x="7029450" y="2039128"/>
            <a:ext cx="4552950" cy="256066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58DF8B-EBF6-4DB5-A810-7234E71EEFF8}"/>
              </a:ext>
            </a:extLst>
          </p:cNvPr>
          <p:cNvSpPr>
            <a:spLocks xmlns:a="http://schemas.openxmlformats.org/drawingml/2006/main" noGrp="1"/>
          </p:cNvSpPr>
          <p:nvPr/>
        </p:nvSpPr>
        <p:spPr>
          <a:xfrm xmlns:a="http://schemas.openxmlformats.org/drawingml/2006/main">
            <a:off x="647700" y="5457825"/>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CCDC2"/>
                </a:solidFill>
                <a:latin typeface="Arial"/>
                <a:ea typeface="Arial"/>
                <a:cs typeface="Arial"/>
              </a:defRPr>
            </a:pPr>
            <a:r>
              <a:rPr sz="1800" b="0">
                <a:solidFill>
                  <a:srgbClr val="BCCDC2"/>
                </a:solidFill>
                <a:latin typeface="Arial"/>
                <a:ea typeface="Arial"/>
                <a:cs typeface="Arial"/>
              </a:rPr>
              <a:t>Team U37</a:t>
            </a:r>
          </a:p>
          <a:p xmlns:a="http://schemas.openxmlformats.org/drawingml/2006/main">
            <a:pPr>
              <a:defRPr sz="1800" b="0">
                <a:solidFill>
                  <a:srgbClr val="BCCDC2"/>
                </a:solidFill>
                <a:latin typeface="Arial"/>
                <a:ea typeface="Arial"/>
                <a:cs typeface="Arial"/>
              </a:defRPr>
            </a:pPr>
            <a:r>
              <a:rPr sz="1800" b="0">
                <a:solidFill>
                  <a:srgbClr val="BCCDC2"/>
                </a:solidFill>
                <a:latin typeface="Arial"/>
                <a:ea typeface="Arial"/>
                <a:cs typeface="Arial"/>
              </a:rPr>
              <a:t>MinneMUDAC 2025</a:t>
            </a:r>
          </a:p>
        </p:txBody>
      </p:sp>
      <p:sp>
        <p:nvSpPr>
          <p:cNvPr id="7" name="">
            <a:extLst xmlns:a="http://schemas.openxmlformats.org/drawingml/2006/main">
              <a:ext uri="{FF2B5EF4-FFF2-40B4-BE49-F238E27FC236}">
                <a16:creationId xmlns:a16="http://schemas.microsoft.com/office/drawing/2014/main" id="{DDFE8293-CA0B-4E54-81E0-354F8B73B7E1}"/>
              </a:ext>
            </a:extLst>
          </p:cNvPr>
          <p:cNvSpPr>
            <a:spLocks xmlns:a="http://schemas.openxmlformats.org/drawingml/2006/main" noGrp="1"/>
          </p:cNvSpPr>
          <p:nvPr/>
        </p:nvSpPr>
        <p:spPr>
          <a:xfrm xmlns:a="http://schemas.openxmlformats.org/drawingml/2006/main">
            <a:off x="7029450" y="5562600"/>
            <a:ext cx="4552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CCDC2"/>
                </a:solidFill>
                <a:latin typeface="Arial"/>
                <a:ea typeface="Arial"/>
                <a:cs typeface="Arial"/>
              </a:defRPr>
            </a:pPr>
            <a:r>
              <a:rPr sz="1650" b="0">
                <a:solidFill>
                  <a:srgbClr val="BCCDC2"/>
                </a:solidFill>
                <a:latin typeface="Arial"/>
                <a:ea typeface="Arial"/>
                <a:cs typeface="Arial"/>
              </a:rPr>
              <a:t>Updated September 30, 2026</a:t>
            </a:r>
          </a:p>
        </p:txBody>
      </p:sp>
    </p:spTree>
    <p:extLst>
      <p:ext uri="{BB962C8B-B14F-4D97-AF65-F5344CB8AC3E}">
        <p14:creationId xmlns:p14="http://schemas.microsoft.com/office/powerpoint/2010/main" val="1871014873"/>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625497-EC52-4CEA-BBF7-4876CF61678D}"/>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Project contribution</a:t>
            </a:r>
          </a:p>
        </p:txBody>
      </p:sp>
      <p:sp>
        <p:nvSpPr>
          <p:cNvPr id="2" name="">
            <a:extLst xmlns:a="http://schemas.openxmlformats.org/drawingml/2006/main">
              <a:ext uri="{FF2B5EF4-FFF2-40B4-BE49-F238E27FC236}">
                <a16:creationId xmlns:a16="http://schemas.microsoft.com/office/drawing/2014/main" id="{DC1E0677-9494-4B7E-91C6-0999371A1280}"/>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9827EAE-0B33-49B8-B979-BAF9883A9AFD}"/>
              </a:ext>
            </a:extLst>
          </p:cNvPr>
          <p:cNvSpPr>
            <a:spLocks xmlns:a="http://schemas.openxmlformats.org/drawingml/2006/main" noGrp="1"/>
          </p:cNvSpPr>
          <p:nvPr/>
        </p:nvSpPr>
        <p:spPr>
          <a:xfrm xmlns:a="http://schemas.openxmlformats.org/drawingml/2006/main">
            <a:off x="609600" y="175260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050" b="1">
                <a:solidFill>
                  <a:srgbClr val="007D55"/>
                </a:solidFill>
                <a:latin typeface="Arial"/>
                <a:ea typeface="Arial"/>
                <a:cs typeface="Arial"/>
              </a:defRPr>
            </a:pPr>
            <a:r>
              <a:rPr sz="7050" b="1">
                <a:solidFill>
                  <a:srgbClr val="007D55"/>
                </a:solidFill>
                <a:latin typeface="Arial"/>
                <a:ea typeface="Arial"/>
                <a:cs typeface="Arial"/>
              </a:rPr>
              <a:t>3,275</a:t>
            </a:r>
          </a:p>
        </p:txBody>
      </p:sp>
      <p:sp>
        <p:nvSpPr>
          <p:cNvPr id="4" name="">
            <a:extLst xmlns:a="http://schemas.openxmlformats.org/drawingml/2006/main">
              <a:ext uri="{FF2B5EF4-FFF2-40B4-BE49-F238E27FC236}">
                <a16:creationId xmlns:a16="http://schemas.microsoft.com/office/drawing/2014/main" id="{91E10DA5-0805-4BC4-A347-BAE2B1F16819}"/>
              </a:ext>
            </a:extLst>
          </p:cNvPr>
          <p:cNvSpPr>
            <a:spLocks xmlns:a="http://schemas.openxmlformats.org/drawingml/2006/main" noGrp="1"/>
          </p:cNvSpPr>
          <p:nvPr/>
        </p:nvSpPr>
        <p:spPr>
          <a:xfrm xmlns:a="http://schemas.openxmlformats.org/drawingml/2006/main">
            <a:off x="647700" y="2838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51E"/>
                </a:solidFill>
                <a:latin typeface="Arial"/>
                <a:ea typeface="Arial"/>
                <a:cs typeface="Arial"/>
              </a:defRPr>
            </a:pPr>
            <a:r>
              <a:rPr sz="2100" b="0">
                <a:solidFill>
                  <a:srgbClr val="16251E"/>
                </a:solidFill>
                <a:latin typeface="Arial"/>
                <a:ea typeface="Arial"/>
                <a:cs typeface="Arial"/>
              </a:rPr>
              <a:t>matches in the source cohort</a:t>
            </a:r>
          </a:p>
        </p:txBody>
      </p:sp>
      <p:sp>
        <p:nvSpPr>
          <p:cNvPr id="5" name="">
            <a:extLst xmlns:a="http://schemas.openxmlformats.org/drawingml/2006/main">
              <a:ext uri="{FF2B5EF4-FFF2-40B4-BE49-F238E27FC236}">
                <a16:creationId xmlns:a16="http://schemas.microsoft.com/office/drawing/2014/main" id="{78650C9E-B5E7-411D-BB5A-5429BCF70F58}"/>
              </a:ext>
            </a:extLst>
          </p:cNvPr>
          <p:cNvSpPr>
            <a:spLocks xmlns:a="http://schemas.openxmlformats.org/drawingml/2006/main" noGrp="1"/>
          </p:cNvSpPr>
          <p:nvPr/>
        </p:nvSpPr>
        <p:spPr>
          <a:xfrm xmlns:a="http://schemas.openxmlformats.org/drawingml/2006/main">
            <a:off x="6286500" y="1790700"/>
            <a:ext cx="5048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6251E"/>
                </a:solidFill>
                <a:latin typeface="Arial"/>
                <a:ea typeface="Arial"/>
                <a:cs typeface="Arial"/>
              </a:defRPr>
            </a:pPr>
            <a:r>
              <a:rPr sz="2625" b="1">
                <a:solidFill>
                  <a:srgbClr val="16251E"/>
                </a:solidFill>
                <a:latin typeface="Arial"/>
                <a:ea typeface="Arial"/>
                <a:cs typeface="Arial"/>
              </a:rPr>
              <a:t>Support notes contain the context</a:t>
            </a:r>
          </a:p>
          <a:p xmlns:a="http://schemas.openxmlformats.org/drawingml/2006/main">
            <a:pPr>
              <a:defRPr sz="2625" b="1">
                <a:solidFill>
                  <a:srgbClr val="16251E"/>
                </a:solidFill>
                <a:latin typeface="Arial"/>
                <a:ea typeface="Arial"/>
                <a:cs typeface="Arial"/>
              </a:defRPr>
            </a:pPr>
            <a:r>
              <a:rPr sz="2625" b="1">
                <a:solidFill>
                  <a:srgbClr val="16251E"/>
                </a:solidFill>
                <a:latin typeface="Arial"/>
                <a:ea typeface="Arial"/>
                <a:cs typeface="Arial"/>
              </a:rPr>
              <a:t>that structured fields can miss.</a:t>
            </a:r>
          </a:p>
        </p:txBody>
      </p:sp>
      <p:sp>
        <p:nvSpPr>
          <p:cNvPr id="6" name="">
            <a:extLst xmlns:a="http://schemas.openxmlformats.org/drawingml/2006/main">
              <a:ext uri="{FF2B5EF4-FFF2-40B4-BE49-F238E27FC236}">
                <a16:creationId xmlns:a16="http://schemas.microsoft.com/office/drawing/2014/main" id="{85367DB7-2FA8-437A-8795-9F49CD60F56A}"/>
              </a:ext>
            </a:extLst>
          </p:cNvPr>
          <p:cNvSpPr>
            <a:spLocks xmlns:a="http://schemas.openxmlformats.org/drawingml/2006/main" noGrp="1"/>
          </p:cNvSpPr>
          <p:nvPr/>
        </p:nvSpPr>
        <p:spPr>
          <a:xfrm xmlns:a="http://schemas.openxmlformats.org/drawingml/2006/main">
            <a:off x="609600" y="38862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Event extraction</a:t>
            </a:r>
          </a:p>
        </p:txBody>
      </p:sp>
      <p:sp>
        <p:nvSpPr>
          <p:cNvPr id="7" name="">
            <a:extLst xmlns:a="http://schemas.openxmlformats.org/drawingml/2006/main">
              <a:ext uri="{FF2B5EF4-FFF2-40B4-BE49-F238E27FC236}">
                <a16:creationId xmlns:a16="http://schemas.microsoft.com/office/drawing/2014/main" id="{0F745E01-4267-46C5-8197-4E2F1A8B5E4C}"/>
              </a:ext>
            </a:extLst>
          </p:cNvPr>
          <p:cNvSpPr>
            <a:spLocks xmlns:a="http://schemas.openxmlformats.org/drawingml/2006/main" noGrp="1"/>
          </p:cNvSpPr>
          <p:nvPr/>
        </p:nvSpPr>
        <p:spPr>
          <a:xfrm xmlns:a="http://schemas.openxmlformats.org/drawingml/2006/main">
            <a:off x="3514725" y="38862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Grok converts narrative notes into event labels and flag counts.</a:t>
            </a:r>
          </a:p>
        </p:txBody>
      </p:sp>
      <p:sp>
        <p:nvSpPr>
          <p:cNvPr id="8" name="">
            <a:extLst xmlns:a="http://schemas.openxmlformats.org/drawingml/2006/main">
              <a:ext uri="{FF2B5EF4-FFF2-40B4-BE49-F238E27FC236}">
                <a16:creationId xmlns:a16="http://schemas.microsoft.com/office/drawing/2014/main" id="{3AF37BD2-F85F-4FB9-BA18-0C19715251DF}"/>
              </a:ext>
            </a:extLst>
          </p:cNvPr>
          <p:cNvSpPr>
            <a:spLocks xmlns:a="http://schemas.openxmlformats.org/drawingml/2006/main" noGrp="1"/>
          </p:cNvSpPr>
          <p:nvPr/>
        </p:nvSpPr>
        <p:spPr>
          <a:xfrm xmlns:a="http://schemas.openxmlformats.org/drawingml/2006/main">
            <a:off x="609600" y="46863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Match duration</a:t>
            </a:r>
          </a:p>
        </p:txBody>
      </p:sp>
      <p:sp>
        <p:nvSpPr>
          <p:cNvPr id="9" name="">
            <a:extLst xmlns:a="http://schemas.openxmlformats.org/drawingml/2006/main">
              <a:ext uri="{FF2B5EF4-FFF2-40B4-BE49-F238E27FC236}">
                <a16:creationId xmlns:a16="http://schemas.microsoft.com/office/drawing/2014/main" id="{35AC895F-C2BE-490E-916A-A0AD6C173699}"/>
              </a:ext>
            </a:extLst>
          </p:cNvPr>
          <p:cNvSpPr>
            <a:spLocks xmlns:a="http://schemas.openxmlformats.org/drawingml/2006/main" noGrp="1"/>
          </p:cNvSpPr>
          <p:nvPr/>
        </p:nvSpPr>
        <p:spPr>
          <a:xfrm xmlns:a="http://schemas.openxmlformats.org/drawingml/2006/main">
            <a:off x="3514725" y="46863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Saved notebooks explore statistical models and LSTM sequences.</a:t>
            </a:r>
          </a:p>
        </p:txBody>
      </p:sp>
      <p:sp>
        <p:nvSpPr>
          <p:cNvPr id="10" name="">
            <a:extLst xmlns:a="http://schemas.openxmlformats.org/drawingml/2006/main">
              <a:ext uri="{FF2B5EF4-FFF2-40B4-BE49-F238E27FC236}">
                <a16:creationId xmlns:a16="http://schemas.microsoft.com/office/drawing/2014/main" id="{13A6E6C8-5D12-4244-98F3-2937C7A437C3}"/>
              </a:ext>
            </a:extLst>
          </p:cNvPr>
          <p:cNvSpPr>
            <a:spLocks xmlns:a="http://schemas.openxmlformats.org/drawingml/2006/main" noGrp="1"/>
          </p:cNvSpPr>
          <p:nvPr/>
        </p:nvSpPr>
        <p:spPr>
          <a:xfrm xmlns:a="http://schemas.openxmlformats.org/drawingml/2006/main">
            <a:off x="609600" y="548640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Staff visibility</a:t>
            </a:r>
          </a:p>
        </p:txBody>
      </p:sp>
      <p:sp>
        <p:nvSpPr>
          <p:cNvPr id="11" name="">
            <a:extLst xmlns:a="http://schemas.openxmlformats.org/drawingml/2006/main">
              <a:ext uri="{FF2B5EF4-FFF2-40B4-BE49-F238E27FC236}">
                <a16:creationId xmlns:a16="http://schemas.microsoft.com/office/drawing/2014/main" id="{AA21E35E-F971-4D6E-AEF2-F4D5321BEBE8}"/>
              </a:ext>
            </a:extLst>
          </p:cNvPr>
          <p:cNvSpPr>
            <a:spLocks xmlns:a="http://schemas.openxmlformats.org/drawingml/2006/main" noGrp="1"/>
          </p:cNvSpPr>
          <p:nvPr/>
        </p:nvSpPr>
        <p:spPr>
          <a:xfrm xmlns:a="http://schemas.openxmlformats.org/drawingml/2006/main">
            <a:off x="3514725" y="54864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Power BI brings event trends and match context into one view.</a:t>
            </a:r>
          </a:p>
        </p:txBody>
      </p:sp>
    </p:spTree>
    <p:extLst>
      <p:ext uri="{BB962C8B-B14F-4D97-AF65-F5344CB8AC3E}">
        <p14:creationId xmlns:p14="http://schemas.microsoft.com/office/powerpoint/2010/main" val="647474052"/>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7CF14B-50A9-42A3-878B-696F8D5834F2}"/>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Data and prediction task</a:t>
            </a:r>
          </a:p>
        </p:txBody>
      </p:sp>
      <p:sp>
        <p:nvSpPr>
          <p:cNvPr id="2" name="">
            <a:extLst xmlns:a="http://schemas.openxmlformats.org/drawingml/2006/main">
              <a:ext uri="{FF2B5EF4-FFF2-40B4-BE49-F238E27FC236}">
                <a16:creationId xmlns:a16="http://schemas.microsoft.com/office/drawing/2014/main" id="{A6AADE15-0F0F-47F2-9A65-C927371584A5}"/>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03</a:t>
            </a:r>
          </a:p>
        </p:txBody>
      </p:sp>
      <p:graphicFrame>
        <p:nvGraphicFramePr>
          <p:cNvPr id="8" name=""/>
          <p:cNvGraphicFramePr/>
          <p:nvPr/>
        </p:nvGraphicFramePr>
        <p:xfrm>
          <a:off xmlns:a="http://schemas.openxmlformats.org/drawingml/2006/main" x="609600" y="1752600"/>
          <a:ext xmlns:a="http://schemas.openxmlformats.org/drawingml/2006/main" cx="10972800" cy="2990850"/>
        </p:xfrm>
        <a:graphic xmlns:a="http://schemas.openxmlformats.org/drawingml/2006/main">
          <a:graphicData uri="http://schemas.openxmlformats.org/drawingml/2006/table">
            <a:tbl>
              <a:tblPr/>
              <a:tblGrid>
                <a:gridCol w="3190875"/>
                <a:gridCol w="1428750"/>
                <a:gridCol w="1524000"/>
                <a:gridCol w="4829175"/>
              </a:tblGrid>
              <a:tr h="747713">
                <a:tc>
                  <a:txBody>
                    <a:bodyPr/>
                    <a:lstStyle/>
                    <a:p>
                      <a:r>
                        <a:rPr sz="1800" b="1">
                          <a:solidFill>
                            <a:srgbClr val="FFFFFF"/>
                          </a:solidFill>
                          <a:latin typeface="Arial"/>
                          <a:ea typeface="Arial"/>
                          <a:cs typeface="Arial"/>
                        </a:rPr>
                        <a:t>Artifact</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Rows</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Matches</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Role</a:t>
                      </a:r>
                    </a:p>
                  </a:txBody>
                  <a:tcPr marL="142875" marR="142875" marT="114300" marB="95250" anchor="ctr">
                    <a:solidFill>
                      <a:srgbClr val="16251E"/>
                    </a:solidFill>
                  </a:tcPr>
                </a:tc>
              </a:tr>
              <a:tr h="747713">
                <a:tc>
                  <a:txBody>
                    <a:bodyPr/>
                    <a:lstStyle/>
                    <a:p>
                      <a:r>
                        <a:rPr sz="1800">
                          <a:solidFill>
                            <a:srgbClr val="16251E"/>
                          </a:solidFill>
                          <a:latin typeface="Arial"/>
                          <a:ea typeface="Arial"/>
                          <a:cs typeface="Arial"/>
                        </a:rPr>
                        <a:t>Training source</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39,345</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3,275</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Match and note instances</a:t>
                      </a:r>
                    </a:p>
                  </a:txBody>
                  <a:tcPr marL="142875" marR="142875" marT="114300" marB="95250" anchor="ctr">
                    <a:solidFill>
                      <a:srgbClr val="F5F6F2"/>
                    </a:solidFill>
                  </a:tcPr>
                </a:tc>
              </a:tr>
              <a:tr h="747713">
                <a:tc>
                  <a:txBody>
                    <a:bodyPr/>
                    <a:lstStyle/>
                    <a:p>
                      <a:r>
                        <a:rPr sz="1800">
                          <a:solidFill>
                            <a:srgbClr val="16251E"/>
                          </a:solidFill>
                          <a:latin typeface="Arial"/>
                          <a:ea typeface="Arial"/>
                          <a:cs typeface="Arial"/>
                        </a:rPr>
                        <a:t>Truncated test input</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2,566</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300</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Partial histories to predict duration</a:t>
                      </a:r>
                    </a:p>
                  </a:txBody>
                  <a:tcPr marL="142875" marR="142875" marT="114300" marB="95250" anchor="ctr">
                    <a:solidFill>
                      <a:srgbClr val="F5F6F2"/>
                    </a:solidFill>
                  </a:tcPr>
                </a:tc>
              </a:tr>
              <a:tr h="747713">
                <a:tc>
                  <a:txBody>
                    <a:bodyPr/>
                    <a:lstStyle/>
                    <a:p>
                      <a:r>
                        <a:rPr sz="1800">
                          <a:solidFill>
                            <a:srgbClr val="16251E"/>
                          </a:solidFill>
                          <a:latin typeface="Arial"/>
                          <a:ea typeface="Arial"/>
                          <a:cs typeface="Arial"/>
                        </a:rPr>
                        <a:t>Saved event extraction</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25,050</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3,275</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LLM features for analysis</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D57DCD7E-0DFF-49BB-B998-ABDE63E537B6}"/>
              </a:ext>
            </a:extLst>
          </p:cNvPr>
          <p:cNvSpPr>
            <a:spLocks xmlns:a="http://schemas.openxmlformats.org/drawingml/2006/main" noGrp="1"/>
          </p:cNvSpPr>
          <p:nvPr/>
        </p:nvSpPr>
        <p:spPr>
          <a:xfrm xmlns:a="http://schemas.openxmlformats.org/drawingml/2006/main">
            <a:off x="609600" y="5057775"/>
            <a:ext cx="1090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07D55"/>
                </a:solidFill>
                <a:latin typeface="Arial"/>
                <a:ea typeface="Arial"/>
                <a:cs typeface="Arial"/>
              </a:defRPr>
            </a:pPr>
            <a:r>
              <a:rPr sz="2325" b="1">
                <a:solidFill>
                  <a:srgbClr val="007D55"/>
                </a:solidFill>
                <a:latin typeface="Arial"/>
                <a:ea typeface="Arial"/>
                <a:cs typeface="Arial"/>
              </a:rPr>
              <a:t>Target: match length in months</a:t>
            </a:r>
          </a:p>
        </p:txBody>
      </p:sp>
      <p:sp>
        <p:nvSpPr>
          <p:cNvPr id="5" name="">
            <a:extLst xmlns:a="http://schemas.openxmlformats.org/drawingml/2006/main">
              <a:ext uri="{FF2B5EF4-FFF2-40B4-BE49-F238E27FC236}">
                <a16:creationId xmlns:a16="http://schemas.microsoft.com/office/drawing/2014/main" id="{83EA33B6-9181-4798-8EE1-CE85CD69FEE9}"/>
              </a:ext>
            </a:extLst>
          </p:cNvPr>
          <p:cNvSpPr>
            <a:spLocks xmlns:a="http://schemas.openxmlformats.org/drawingml/2006/main" noGrp="1"/>
          </p:cNvSpPr>
          <p:nvPr/>
        </p:nvSpPr>
        <p:spPr>
          <a:xfrm xmlns:a="http://schemas.openxmlformats.org/drawingml/2006/main">
            <a:off x="609600" y="56578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Test input omits recent notes and closure fields. Active matches remain ongoing.</a:t>
            </a:r>
          </a:p>
        </p:txBody>
      </p:sp>
    </p:spTree>
    <p:extLst>
      <p:ext uri="{BB962C8B-B14F-4D97-AF65-F5344CB8AC3E}">
        <p14:creationId xmlns:p14="http://schemas.microsoft.com/office/powerpoint/2010/main" val="390131900"/>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3C78E2-80C3-4C2D-B5D8-46B6D1279E43}"/>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Match status and duration</a:t>
            </a:r>
          </a:p>
        </p:txBody>
      </p:sp>
      <p:sp>
        <p:nvSpPr>
          <p:cNvPr id="2" name="">
            <a:extLst xmlns:a="http://schemas.openxmlformats.org/drawingml/2006/main">
              <a:ext uri="{FF2B5EF4-FFF2-40B4-BE49-F238E27FC236}">
                <a16:creationId xmlns:a16="http://schemas.microsoft.com/office/drawing/2014/main" id="{A171E6C9-C42B-433C-B662-28FC38055CC8}"/>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04</a:t>
            </a:r>
          </a:p>
        </p:txBody>
      </p:sp>
      <p:graphicFrame>
        <p:nvGraphicFramePr>
          <p:cNvPr id="11" name="Chart"/>
          <p:cNvGraphicFramePr/>
          <p:nvPr/>
        </p:nvGraphicFramePr>
        <p:xfrm>
          <a:off xmlns:a="http://schemas.openxmlformats.org/drawingml/2006/main" x="609600" y="1895475"/>
          <a:ext xmlns:a="http://schemas.openxmlformats.org/drawingml/2006/main" cx="6810375" cy="3648075"/>
        </p:xfrm>
        <a:graphic xmlns:a="http://schemas.openxmlformats.org/drawingml/2006/main">
          <a:graphicData uri="http://schemas.openxmlformats.org/drawingml/2006/chart">
            <c:chart xmlns:r="http://schemas.openxmlformats.org/officeDocument/2006/relationships" xmlns:c="http://schemas.openxmlformats.org/drawingml/2006/chart" r:id="Rc95f022d323741e8"/>
          </a:graphicData>
        </a:graphic>
      </p:graphicFrame>
      <p:sp>
        <p:nvSpPr>
          <p:cNvPr id="4" name="">
            <a:extLst xmlns:a="http://schemas.openxmlformats.org/drawingml/2006/main">
              <a:ext uri="{FF2B5EF4-FFF2-40B4-BE49-F238E27FC236}">
                <a16:creationId xmlns:a16="http://schemas.microsoft.com/office/drawing/2014/main" id="{5F908F6A-F5CA-4334-AC6A-FC850EFCA45A}"/>
              </a:ext>
            </a:extLst>
          </p:cNvPr>
          <p:cNvSpPr>
            <a:spLocks xmlns:a="http://schemas.openxmlformats.org/drawingml/2006/main" noGrp="1"/>
          </p:cNvSpPr>
          <p:nvPr/>
        </p:nvSpPr>
        <p:spPr>
          <a:xfrm xmlns:a="http://schemas.openxmlformats.org/drawingml/2006/main">
            <a:off x="8210550" y="1866900"/>
            <a:ext cx="323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007D55"/>
                </a:solidFill>
                <a:latin typeface="Arial"/>
                <a:ea typeface="Arial"/>
                <a:cs typeface="Arial"/>
              </a:defRPr>
            </a:pPr>
            <a:r>
              <a:rPr sz="6600" b="1">
                <a:solidFill>
                  <a:srgbClr val="007D55"/>
                </a:solidFill>
                <a:latin typeface="Arial"/>
                <a:ea typeface="Arial"/>
                <a:cs typeface="Arial"/>
              </a:rPr>
              <a:t>15.7</a:t>
            </a:r>
          </a:p>
        </p:txBody>
      </p:sp>
      <p:sp>
        <p:nvSpPr>
          <p:cNvPr id="5" name="">
            <a:extLst xmlns:a="http://schemas.openxmlformats.org/drawingml/2006/main">
              <a:ext uri="{FF2B5EF4-FFF2-40B4-BE49-F238E27FC236}">
                <a16:creationId xmlns:a16="http://schemas.microsoft.com/office/drawing/2014/main" id="{3A528ADC-F8AB-47BF-A487-5FC16E0562C7}"/>
              </a:ext>
            </a:extLst>
          </p:cNvPr>
          <p:cNvSpPr>
            <a:spLocks xmlns:a="http://schemas.openxmlformats.org/drawingml/2006/main" noGrp="1"/>
          </p:cNvSpPr>
          <p:nvPr/>
        </p:nvSpPr>
        <p:spPr>
          <a:xfrm xmlns:a="http://schemas.openxmlformats.org/drawingml/2006/main">
            <a:off x="8239125" y="2857500"/>
            <a:ext cx="3105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months</a:t>
            </a:r>
          </a:p>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median closed-match length</a:t>
            </a:r>
          </a:p>
        </p:txBody>
      </p:sp>
      <p:sp>
        <p:nvSpPr>
          <p:cNvPr id="6" name="">
            <a:extLst xmlns:a="http://schemas.openxmlformats.org/drawingml/2006/main">
              <a:ext uri="{FF2B5EF4-FFF2-40B4-BE49-F238E27FC236}">
                <a16:creationId xmlns:a16="http://schemas.microsoft.com/office/drawing/2014/main" id="{CC8CCC63-E28E-4A99-B7BB-4E3FA31AA2DE}"/>
              </a:ext>
            </a:extLst>
          </p:cNvPr>
          <p:cNvSpPr>
            <a:spLocks xmlns:a="http://schemas.openxmlformats.org/drawingml/2006/main" noGrp="1"/>
          </p:cNvSpPr>
          <p:nvPr/>
        </p:nvSpPr>
        <p:spPr>
          <a:xfrm xmlns:a="http://schemas.openxmlformats.org/drawingml/2006/main">
            <a:off x="8191500" y="4438650"/>
            <a:ext cx="3314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6251E"/>
                </a:solidFill>
                <a:latin typeface="Arial"/>
                <a:ea typeface="Arial"/>
                <a:cs typeface="Arial"/>
              </a:defRPr>
            </a:pPr>
            <a:r>
              <a:rPr sz="2250" b="1">
                <a:solidFill>
                  <a:srgbClr val="16251E"/>
                </a:solidFill>
                <a:latin typeface="Arial"/>
                <a:ea typeface="Arial"/>
                <a:cs typeface="Arial"/>
              </a:rPr>
              <a:t>8.7 to 28.2 months</a:t>
            </a:r>
          </a:p>
        </p:txBody>
      </p:sp>
      <p:sp>
        <p:nvSpPr>
          <p:cNvPr id="7" name="">
            <a:extLst xmlns:a="http://schemas.openxmlformats.org/drawingml/2006/main">
              <a:ext uri="{FF2B5EF4-FFF2-40B4-BE49-F238E27FC236}">
                <a16:creationId xmlns:a16="http://schemas.microsoft.com/office/drawing/2014/main" id="{54DD89B0-8A0D-4448-89D8-9A8967AA137E}"/>
              </a:ext>
            </a:extLst>
          </p:cNvPr>
          <p:cNvSpPr>
            <a:spLocks xmlns:a="http://schemas.openxmlformats.org/drawingml/2006/main" noGrp="1"/>
          </p:cNvSpPr>
          <p:nvPr/>
        </p:nvSpPr>
        <p:spPr>
          <a:xfrm xmlns:a="http://schemas.openxmlformats.org/drawingml/2006/main">
            <a:off x="8229600" y="5000625"/>
            <a:ext cx="32670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45A"/>
                </a:solidFill>
                <a:latin typeface="Arial"/>
                <a:ea typeface="Arial"/>
                <a:cs typeface="Arial"/>
              </a:defRPr>
            </a:pPr>
            <a:r>
              <a:rPr sz="1875" b="0">
                <a:solidFill>
                  <a:srgbClr val="52645A"/>
                </a:solidFill>
                <a:latin typeface="Arial"/>
                <a:ea typeface="Arial"/>
                <a:cs typeface="Arial"/>
              </a:rPr>
              <a:t>Middle 50% of closed matches</a:t>
            </a:r>
          </a:p>
        </p:txBody>
      </p:sp>
      <p:sp>
        <p:nvSpPr>
          <p:cNvPr id="8" name="">
            <a:extLst xmlns:a="http://schemas.openxmlformats.org/drawingml/2006/main">
              <a:ext uri="{FF2B5EF4-FFF2-40B4-BE49-F238E27FC236}">
                <a16:creationId xmlns:a16="http://schemas.microsoft.com/office/drawing/2014/main" id="{BFC02BDE-197C-4AA8-97DB-89B78E6CDDCB}"/>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Source snapshot: 3,275 matches. Duration figures use the 2,486 closed matches only.</a:t>
            </a:r>
          </a:p>
        </p:txBody>
      </p:sp>
    </p:spTree>
    <p:extLst>
      <p:ext uri="{BB962C8B-B14F-4D97-AF65-F5344CB8AC3E}">
        <p14:creationId xmlns:p14="http://schemas.microsoft.com/office/powerpoint/2010/main" val="181325686"/>
      </p:ext>
    </p:extLst>
  </p:cSld>
</p:sld>
</file>

<file path=ppt/slides/slide5.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09E7BB-F265-4624-86D9-DF0ED78E5005}"/>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Analysis pipeline</a:t>
            </a:r>
          </a:p>
        </p:txBody>
      </p:sp>
      <p:sp>
        <p:nvSpPr>
          <p:cNvPr id="2" name="">
            <a:extLst xmlns:a="http://schemas.openxmlformats.org/drawingml/2006/main">
              <a:ext uri="{FF2B5EF4-FFF2-40B4-BE49-F238E27FC236}">
                <a16:creationId xmlns:a16="http://schemas.microsoft.com/office/drawing/2014/main" id="{3BE4ABA0-23A1-4C40-BA22-8DB8B1DC76D3}"/>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05</a:t>
            </a:r>
          </a:p>
        </p:txBody>
      </p:sp>
      <p:graphicFrame>
        <p:nvGraphicFramePr>
          <p:cNvPr id="7" name=""/>
          <p:cNvGraphicFramePr/>
          <p:nvPr/>
        </p:nvGraphicFramePr>
        <p:xfrm>
          <a:off xmlns:a="http://schemas.openxmlformats.org/drawingml/2006/main" x="609600" y="1685925"/>
          <a:ext xmlns:a="http://schemas.openxmlformats.org/drawingml/2006/main" cx="10972800" cy="3724275"/>
        </p:xfrm>
        <a:graphic xmlns:a="http://schemas.openxmlformats.org/drawingml/2006/main">
          <a:graphicData uri="http://schemas.openxmlformats.org/drawingml/2006/table">
            <a:tbl>
              <a:tblPr/>
              <a:tblGrid>
                <a:gridCol w="2286000"/>
                <a:gridCol w="5105400"/>
                <a:gridCol w="3581400"/>
              </a:tblGrid>
              <a:tr h="744855">
                <a:tc>
                  <a:txBody>
                    <a:bodyPr/>
                    <a:lstStyle/>
                    <a:p>
                      <a:r>
                        <a:rPr sz="1725" b="1">
                          <a:solidFill>
                            <a:srgbClr val="FFFFFF"/>
                          </a:solidFill>
                          <a:latin typeface="Arial"/>
                          <a:ea typeface="Arial"/>
                          <a:cs typeface="Arial"/>
                        </a:rPr>
                        <a:t>Stage</a:t>
                      </a:r>
                    </a:p>
                  </a:txBody>
                  <a:tcPr marL="142875" marR="142875" marT="114300" marB="95250" anchor="ctr">
                    <a:solidFill>
                      <a:srgbClr val="16251E"/>
                    </a:solidFill>
                  </a:tcPr>
                </a:tc>
                <a:tc>
                  <a:txBody>
                    <a:bodyPr/>
                    <a:lstStyle/>
                    <a:p>
                      <a:r>
                        <a:rPr sz="1725" b="1">
                          <a:solidFill>
                            <a:srgbClr val="FFFFFF"/>
                          </a:solidFill>
                          <a:latin typeface="Arial"/>
                          <a:ea typeface="Arial"/>
                          <a:cs typeface="Arial"/>
                        </a:rPr>
                        <a:t>Input and transformation</a:t>
                      </a:r>
                    </a:p>
                  </a:txBody>
                  <a:tcPr marL="142875" marR="142875" marT="114300" marB="95250" anchor="ctr">
                    <a:solidFill>
                      <a:srgbClr val="16251E"/>
                    </a:solidFill>
                  </a:tcPr>
                </a:tc>
                <a:tc>
                  <a:txBody>
                    <a:bodyPr/>
                    <a:lstStyle/>
                    <a:p>
                      <a:r>
                        <a:rPr sz="1725" b="1">
                          <a:solidFill>
                            <a:srgbClr val="FFFFFF"/>
                          </a:solidFill>
                          <a:latin typeface="Arial"/>
                          <a:ea typeface="Arial"/>
                          <a:cs typeface="Arial"/>
                        </a:rPr>
                        <a:t>Output</a:t>
                      </a:r>
                    </a:p>
                  </a:txBody>
                  <a:tcPr marL="142875" marR="142875" marT="114300" marB="95250" anchor="ctr">
                    <a:solidFill>
                      <a:srgbClr val="16251E"/>
                    </a:solidFill>
                  </a:tcPr>
                </a:tc>
              </a:tr>
              <a:tr h="744855">
                <a:tc>
                  <a:txBody>
                    <a:bodyPr/>
                    <a:lstStyle/>
                    <a:p>
                      <a:r>
                        <a:rPr sz="1725">
                          <a:solidFill>
                            <a:srgbClr val="16251E"/>
                          </a:solidFill>
                          <a:latin typeface="Arial"/>
                          <a:ea typeface="Arial"/>
                          <a:cs typeface="Arial"/>
                        </a:rPr>
                        <a:t>Preparation</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Support notes, match fields and Census context</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Cleaned match and note records</a:t>
                      </a:r>
                    </a:p>
                  </a:txBody>
                  <a:tcPr marL="142875" marR="142875" marT="114300" marB="95250" anchor="ctr">
                    <a:solidFill>
                      <a:srgbClr val="F5F6F2"/>
                    </a:solidFill>
                  </a:tcPr>
                </a:tc>
              </a:tr>
              <a:tr h="744855">
                <a:tc>
                  <a:txBody>
                    <a:bodyPr/>
                    <a:lstStyle/>
                    <a:p>
                      <a:r>
                        <a:rPr sz="1725">
                          <a:solidFill>
                            <a:srgbClr val="16251E"/>
                          </a:solidFill>
                          <a:latin typeface="Arial"/>
                          <a:ea typeface="Arial"/>
                          <a:cs typeface="Arial"/>
                        </a:rPr>
                        <a:t>Semantic extraction</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Grok identifies events and positive or concerning signals</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34 event fields and flag counts</a:t>
                      </a:r>
                    </a:p>
                  </a:txBody>
                  <a:tcPr marL="142875" marR="142875" marT="114300" marB="95250" anchor="ctr">
                    <a:solidFill>
                      <a:srgbClr val="F5F6F2"/>
                    </a:solidFill>
                  </a:tcPr>
                </a:tc>
              </a:tr>
              <a:tr h="744855">
                <a:tc>
                  <a:txBody>
                    <a:bodyPr/>
                    <a:lstStyle/>
                    <a:p>
                      <a:r>
                        <a:rPr sz="1725">
                          <a:solidFill>
                            <a:srgbClr val="16251E"/>
                          </a:solidFill>
                          <a:latin typeface="Arial"/>
                          <a:ea typeface="Arial"/>
                          <a:cs typeface="Arial"/>
                        </a:rPr>
                        <a:t>Modeling</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Aggregate features or dated match sequences</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Exploratory duration estimates</a:t>
                      </a:r>
                    </a:p>
                  </a:txBody>
                  <a:tcPr marL="142875" marR="142875" marT="114300" marB="95250" anchor="ctr">
                    <a:solidFill>
                      <a:srgbClr val="F5F6F2"/>
                    </a:solidFill>
                  </a:tcPr>
                </a:tc>
              </a:tr>
              <a:tr h="744855">
                <a:tc>
                  <a:txBody>
                    <a:bodyPr/>
                    <a:lstStyle/>
                    <a:p>
                      <a:r>
                        <a:rPr sz="1725">
                          <a:solidFill>
                            <a:srgbClr val="16251E"/>
                          </a:solidFill>
                          <a:latin typeface="Arial"/>
                          <a:ea typeface="Arial"/>
                          <a:cs typeface="Arial"/>
                        </a:rPr>
                        <a:t>Reporting</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Power BI organizes trends and match context</a:t>
                      </a:r>
                    </a:p>
                  </a:txBody>
                  <a:tcPr marL="142875" marR="142875" marT="114300" marB="95250" anchor="ctr">
                    <a:solidFill>
                      <a:srgbClr val="F5F6F2"/>
                    </a:solidFill>
                  </a:tcPr>
                </a:tc>
                <a:tc>
                  <a:txBody>
                    <a:bodyPr/>
                    <a:lstStyle/>
                    <a:p>
                      <a:r>
                        <a:rPr sz="1725">
                          <a:solidFill>
                            <a:srgbClr val="16251E"/>
                          </a:solidFill>
                          <a:latin typeface="Arial"/>
                          <a:ea typeface="Arial"/>
                          <a:cs typeface="Arial"/>
                        </a:rPr>
                        <a:t>Views for staff review</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4778852B-1852-4DD5-93C9-FBE111394F02}"/>
              </a:ext>
            </a:extLst>
          </p:cNvPr>
          <p:cNvSpPr>
            <a:spLocks xmlns:a="http://schemas.openxmlformats.org/drawingml/2006/main" noGrp="1"/>
          </p:cNvSpPr>
          <p:nvPr/>
        </p:nvSpPr>
        <p:spPr>
          <a:xfrm xmlns:a="http://schemas.openxmlformats.org/drawingml/2006/main">
            <a:off x="609600" y="58388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Automated calls, MatchForce integration and live alerts remain proposed extensions.</a:t>
            </a:r>
          </a:p>
        </p:txBody>
      </p:sp>
    </p:spTree>
    <p:extLst>
      <p:ext uri="{BB962C8B-B14F-4D97-AF65-F5344CB8AC3E}">
        <p14:creationId xmlns:p14="http://schemas.microsoft.com/office/powerpoint/2010/main" val="1783542766"/>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5EE3BB-A638-457A-9959-7DECCBF65F24}"/>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Note extraction example</a:t>
            </a:r>
          </a:p>
        </p:txBody>
      </p:sp>
      <p:sp>
        <p:nvSpPr>
          <p:cNvPr id="2" name="">
            <a:extLst xmlns:a="http://schemas.openxmlformats.org/drawingml/2006/main">
              <a:ext uri="{FF2B5EF4-FFF2-40B4-BE49-F238E27FC236}">
                <a16:creationId xmlns:a16="http://schemas.microsoft.com/office/drawing/2014/main" id="{5BF5FE7A-4DD9-4A36-993A-9C4D479576C5}"/>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1817A83-87DB-48D8-B9F5-C480C6D41A90}"/>
              </a:ext>
            </a:extLst>
          </p:cNvPr>
          <p:cNvSpPr>
            <a:spLocks xmlns:a="http://schemas.openxmlformats.org/drawingml/2006/main" noGrp="1"/>
          </p:cNvSpPr>
          <p:nvPr/>
        </p:nvSpPr>
        <p:spPr>
          <a:xfrm xmlns:a="http://schemas.openxmlformats.org/drawingml/2006/main">
            <a:off x="609600" y="175260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7D55"/>
                </a:solidFill>
                <a:latin typeface="Arial"/>
                <a:ea typeface="Arial"/>
                <a:cs typeface="Arial"/>
              </a:defRPr>
            </a:pPr>
            <a:r>
              <a:rPr sz="2175" b="1">
                <a:solidFill>
                  <a:srgbClr val="007D55"/>
                </a:solidFill>
                <a:latin typeface="Arial"/>
                <a:ea typeface="Arial"/>
                <a:cs typeface="Arial"/>
              </a:rPr>
              <a:t>Illustrative support note</a:t>
            </a:r>
          </a:p>
        </p:txBody>
      </p:sp>
      <p:sp>
        <p:nvSpPr>
          <p:cNvPr id="4" name="">
            <a:extLst xmlns:a="http://schemas.openxmlformats.org/drawingml/2006/main">
              <a:ext uri="{FF2B5EF4-FFF2-40B4-BE49-F238E27FC236}">
                <a16:creationId xmlns:a16="http://schemas.microsoft.com/office/drawing/2014/main" id="{7404E239-5E2B-4877-B4AA-1EC3F0248162}"/>
              </a:ext>
            </a:extLst>
          </p:cNvPr>
          <p:cNvSpPr>
            <a:spLocks xmlns:a="http://schemas.openxmlformats.org/drawingml/2006/main" noGrp="1"/>
          </p:cNvSpPr>
          <p:nvPr/>
        </p:nvSpPr>
        <p:spPr>
          <a:xfrm xmlns:a="http://schemas.openxmlformats.org/drawingml/2006/main">
            <a:off x="609600" y="2457450"/>
            <a:ext cx="51720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“The volunteer has struggled to</a:t>
            </a:r>
          </a:p>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reach the family. Both want to</a:t>
            </a:r>
          </a:p>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continue, and the coordinator</a:t>
            </a:r>
          </a:p>
          <a:p xmlns:a="http://schemas.openxmlformats.org/drawingml/2006/main">
            <a:pPr>
              <a:defRPr sz="2325" b="0">
                <a:solidFill>
                  <a:srgbClr val="16251E"/>
                </a:solidFill>
                <a:latin typeface="Arial"/>
                <a:ea typeface="Arial"/>
                <a:cs typeface="Arial"/>
              </a:defRPr>
            </a:pPr>
            <a:r>
              <a:rPr sz="2325" b="0">
                <a:solidFill>
                  <a:srgbClr val="16251E"/>
                </a:solidFill>
                <a:latin typeface="Arial"/>
                <a:ea typeface="Arial"/>
                <a:cs typeface="Arial"/>
              </a:rPr>
              <a:t>will arrange a check-in.”</a:t>
            </a:r>
          </a:p>
        </p:txBody>
      </p:sp>
      <p:sp>
        <p:nvSpPr>
          <p:cNvPr id="5" name="">
            <a:extLst xmlns:a="http://schemas.openxmlformats.org/drawingml/2006/main">
              <a:ext uri="{FF2B5EF4-FFF2-40B4-BE49-F238E27FC236}">
                <a16:creationId xmlns:a16="http://schemas.microsoft.com/office/drawing/2014/main" id="{2B190E92-CBD6-4AC5-8E72-B701D7AC638E}"/>
              </a:ext>
            </a:extLst>
          </p:cNvPr>
          <p:cNvSpPr>
            <a:spLocks xmlns:a="http://schemas.openxmlformats.org/drawingml/2006/main" noGrp="1"/>
          </p:cNvSpPr>
          <p:nvPr/>
        </p:nvSpPr>
        <p:spPr>
          <a:xfrm xmlns:a="http://schemas.openxmlformats.org/drawingml/2006/main">
            <a:off x="6381750" y="17526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7D55"/>
                </a:solidFill>
                <a:latin typeface="Arial"/>
                <a:ea typeface="Arial"/>
                <a:cs typeface="Arial"/>
              </a:defRPr>
            </a:pPr>
            <a:r>
              <a:rPr sz="2175" b="1">
                <a:solidFill>
                  <a:srgbClr val="007D55"/>
                </a:solidFill>
                <a:latin typeface="Arial"/>
                <a:ea typeface="Arial"/>
                <a:cs typeface="Arial"/>
              </a:rPr>
              <a:t>Structured output</a:t>
            </a:r>
          </a:p>
        </p:txBody>
      </p:sp>
      <p:sp>
        <p:nvSpPr>
          <p:cNvPr id="6" name="">
            <a:extLst xmlns:a="http://schemas.openxmlformats.org/drawingml/2006/main">
              <a:ext uri="{FF2B5EF4-FFF2-40B4-BE49-F238E27FC236}">
                <a16:creationId xmlns:a16="http://schemas.microsoft.com/office/drawing/2014/main" id="{E914EC17-9E70-4B98-8C22-83E4237AD549}"/>
              </a:ext>
            </a:extLst>
          </p:cNvPr>
          <p:cNvSpPr>
            <a:spLocks xmlns:a="http://schemas.openxmlformats.org/drawingml/2006/main" noGrp="1"/>
          </p:cNvSpPr>
          <p:nvPr/>
        </p:nvSpPr>
        <p:spPr>
          <a:xfrm xmlns:a="http://schemas.openxmlformats.org/drawingml/2006/main">
            <a:off x="6381750" y="2371725"/>
            <a:ext cx="512445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"green_flag_count": 1,</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"red_flag_count": 1,</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"events":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"Child/Family: Lost contact with volunteer": 3</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  }</a:t>
            </a:r>
          </a:p>
          <a:p xmlns:a="http://schemas.openxmlformats.org/drawingml/2006/main">
            <a:pPr>
              <a:defRPr sz="1650" b="0">
                <a:solidFill>
                  <a:srgbClr val="16251E"/>
                </a:solidFill>
                <a:latin typeface="Arial"/>
                <a:ea typeface="Arial"/>
                <a:cs typeface="Arial"/>
              </a:defRPr>
            </a:pPr>
            <a:r>
              <a:rPr sz="1650" b="0">
                <a:solidFill>
                  <a:srgbClr val="16251E"/>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7243329B-C0D2-43DE-9FA5-F1B6A6086E84}"/>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Synthetic illustration. Event severity is an assigned label, not a calibrated probability.</a:t>
            </a:r>
          </a:p>
        </p:txBody>
      </p:sp>
    </p:spTree>
    <p:extLst>
      <p:ext uri="{BB962C8B-B14F-4D97-AF65-F5344CB8AC3E}">
        <p14:creationId xmlns:p14="http://schemas.microsoft.com/office/powerpoint/2010/main" val="2132124734"/>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695A9F-E732-4808-A35E-B8C4605CF92B}"/>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Frequent extracted events</a:t>
            </a:r>
          </a:p>
        </p:txBody>
      </p:sp>
      <p:sp>
        <p:nvSpPr>
          <p:cNvPr id="2" name="">
            <a:extLst xmlns:a="http://schemas.openxmlformats.org/drawingml/2006/main">
              <a:ext uri="{FF2B5EF4-FFF2-40B4-BE49-F238E27FC236}">
                <a16:creationId xmlns:a16="http://schemas.microsoft.com/office/drawing/2014/main" id="{4C770F7E-59B5-465C-B66D-F782A71B7790}"/>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07</a:t>
            </a:r>
          </a:p>
        </p:txBody>
      </p:sp>
      <p:graphicFrame>
        <p:nvGraphicFramePr>
          <p:cNvPr id="7" name="Chart"/>
          <p:cNvGraphicFramePr/>
          <p:nvPr/>
        </p:nvGraphicFramePr>
        <p:xfrm>
          <a:off xmlns:a="http://schemas.openxmlformats.org/drawingml/2006/main" x="609600" y="1685925"/>
          <a:ext xmlns:a="http://schemas.openxmlformats.org/drawingml/2006/main" cx="10972800" cy="4048125"/>
        </p:xfrm>
        <a:graphic xmlns:a="http://schemas.openxmlformats.org/drawingml/2006/main">
          <a:graphicData uri="http://schemas.openxmlformats.org/drawingml/2006/chart">
            <c:chart xmlns:r="http://schemas.openxmlformats.org/officeDocument/2006/relationships" xmlns:c="http://schemas.openxmlformats.org/drawingml/2006/chart" r:id="R949bb5dcd04f4cbd"/>
          </a:graphicData>
        </a:graphic>
      </p:graphicFrame>
      <p:sp>
        <p:nvSpPr>
          <p:cNvPr id="4" name="">
            <a:extLst xmlns:a="http://schemas.openxmlformats.org/drawingml/2006/main">
              <a:ext uri="{FF2B5EF4-FFF2-40B4-BE49-F238E27FC236}">
                <a16:creationId xmlns:a16="http://schemas.microsoft.com/office/drawing/2014/main" id="{58D13E9A-026A-45ED-81CB-387E278EC363}"/>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Counts of rows with an event across 25,050 extracted rows. Repeated events can belong to the same match.</a:t>
            </a:r>
          </a:p>
        </p:txBody>
      </p:sp>
    </p:spTree>
    <p:extLst>
      <p:ext uri="{BB962C8B-B14F-4D97-AF65-F5344CB8AC3E}">
        <p14:creationId xmlns:p14="http://schemas.microsoft.com/office/powerpoint/2010/main" val="900741953"/>
      </p:ext>
    </p:extLst>
  </p:cSld>
</p:sld>
</file>

<file path=ppt/slides/slide8.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AF77F0-A7DD-4536-A572-C81A337B799A}"/>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Support priorities for staff review</a:t>
            </a:r>
          </a:p>
        </p:txBody>
      </p:sp>
      <p:sp>
        <p:nvSpPr>
          <p:cNvPr id="2" name="">
            <a:extLst xmlns:a="http://schemas.openxmlformats.org/drawingml/2006/main">
              <a:ext uri="{FF2B5EF4-FFF2-40B4-BE49-F238E27FC236}">
                <a16:creationId xmlns:a16="http://schemas.microsoft.com/office/drawing/2014/main" id="{5205D7DA-3069-4F19-9580-8AD6A2D42402}"/>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08</a:t>
            </a:r>
          </a:p>
        </p:txBody>
      </p:sp>
      <p:graphicFrame>
        <p:nvGraphicFramePr>
          <p:cNvPr id="7" name=""/>
          <p:cNvGraphicFramePr/>
          <p:nvPr/>
        </p:nvGraphicFramePr>
        <p:xfrm>
          <a:off xmlns:a="http://schemas.openxmlformats.org/drawingml/2006/main" x="609600" y="1733550"/>
          <a:ext xmlns:a="http://schemas.openxmlformats.org/drawingml/2006/main" cx="10972800" cy="3705225"/>
        </p:xfrm>
        <a:graphic xmlns:a="http://schemas.openxmlformats.org/drawingml/2006/main">
          <a:graphicData uri="http://schemas.openxmlformats.org/drawingml/2006/table">
            <a:tbl>
              <a:tblPr/>
              <a:tblGrid>
                <a:gridCol w="3476625"/>
                <a:gridCol w="7496175"/>
              </a:tblGrid>
              <a:tr h="741045">
                <a:tc>
                  <a:txBody>
                    <a:bodyPr/>
                    <a:lstStyle/>
                    <a:p>
                      <a:r>
                        <a:rPr sz="1875" b="1">
                          <a:solidFill>
                            <a:srgbClr val="FFFFFF"/>
                          </a:solidFill>
                          <a:latin typeface="Arial"/>
                          <a:ea typeface="Arial"/>
                          <a:cs typeface="Arial"/>
                        </a:rPr>
                        <a:t>Signal in a note</a:t>
                      </a:r>
                    </a:p>
                  </a:txBody>
                  <a:tcPr marL="142875" marR="142875" marT="114300" marB="95250" anchor="ctr">
                    <a:solidFill>
                      <a:srgbClr val="16251E"/>
                    </a:solidFill>
                  </a:tcPr>
                </a:tc>
                <a:tc>
                  <a:txBody>
                    <a:bodyPr/>
                    <a:lstStyle/>
                    <a:p>
                      <a:r>
                        <a:rPr sz="1875" b="1">
                          <a:solidFill>
                            <a:srgbClr val="FFFFFF"/>
                          </a:solidFill>
                          <a:latin typeface="Arial"/>
                          <a:ea typeface="Arial"/>
                          <a:cs typeface="Arial"/>
                        </a:rPr>
                        <a:t>Suggested coordinator response</a:t>
                      </a:r>
                    </a:p>
                  </a:txBody>
                  <a:tcPr marL="142875" marR="142875" marT="114300" marB="95250" anchor="ctr">
                    <a:solidFill>
                      <a:srgbClr val="16251E"/>
                    </a:solidFill>
                  </a:tcPr>
                </a:tc>
              </a:tr>
              <a:tr h="741045">
                <a:tc>
                  <a:txBody>
                    <a:bodyPr/>
                    <a:lstStyle/>
                    <a:p>
                      <a:r>
                        <a:rPr sz="1875">
                          <a:solidFill>
                            <a:srgbClr val="16251E"/>
                          </a:solidFill>
                          <a:latin typeface="Arial"/>
                          <a:ea typeface="Arial"/>
                          <a:cs typeface="Arial"/>
                        </a:rPr>
                        <a:t>Loss of contact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Confirm contact preferences and arrange a joint check-in.</a:t>
                      </a:r>
                    </a:p>
                  </a:txBody>
                  <a:tcPr marL="142875" marR="142875" marT="114300" marB="95250" anchor="ctr">
                    <a:solidFill>
                      <a:srgbClr val="F5F6F2"/>
                    </a:solidFill>
                  </a:tcPr>
                </a:tc>
              </a:tr>
              <a:tr h="741045">
                <a:tc>
                  <a:txBody>
                    <a:bodyPr/>
                    <a:lstStyle/>
                    <a:p>
                      <a:r>
                        <a:rPr sz="1875">
                          <a:solidFill>
                            <a:srgbClr val="16251E"/>
                          </a:solidFill>
                          <a:latin typeface="Arial"/>
                          <a:ea typeface="Arial"/>
                          <a:cs typeface="Arial"/>
                        </a:rPr>
                        <a:t>Relocation or transport barriers</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Review travel access and whether the match can continue.</a:t>
                      </a:r>
                    </a:p>
                  </a:txBody>
                  <a:tcPr marL="142875" marR="142875" marT="114300" marB="95250" anchor="ctr">
                    <a:solidFill>
                      <a:srgbClr val="F5F6F2"/>
                    </a:solidFill>
                  </a:tcPr>
                </a:tc>
              </a:tr>
              <a:tr h="741045">
                <a:tc>
                  <a:txBody>
                    <a:bodyPr/>
                    <a:lstStyle/>
                    <a:p>
                      <a:r>
                        <a:rPr sz="1875">
                          <a:solidFill>
                            <a:srgbClr val="16251E"/>
                          </a:solidFill>
                          <a:latin typeface="Arial"/>
                          <a:ea typeface="Arial"/>
                          <a:cs typeface="Arial"/>
                        </a:rPr>
                        <a:t>Time constraints or loss of interest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Agree on a realistic meeting plan with the participants.</a:t>
                      </a:r>
                    </a:p>
                  </a:txBody>
                  <a:tcPr marL="142875" marR="142875" marT="114300" marB="95250" anchor="ctr">
                    <a:solidFill>
                      <a:srgbClr val="F5F6F2"/>
                    </a:solidFill>
                  </a:tcPr>
                </a:tc>
              </a:tr>
              <a:tr h="741045">
                <a:tc>
                  <a:txBody>
                    <a:bodyPr/>
                    <a:lstStyle/>
                    <a:p>
                      <a:r>
                        <a:rPr sz="1875">
                          <a:solidFill>
                            <a:srgbClr val="16251E"/>
                          </a:solidFill>
                          <a:latin typeface="Arial"/>
                          <a:ea typeface="Arial"/>
                          <a:cs typeface="Arial"/>
                        </a:rPr>
                        <a:t>Closure discussion</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Review the context and support an appropriate closure plan.</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13936145-D5D4-47CE-8FB4-891B999C0AF1}"/>
              </a:ext>
            </a:extLst>
          </p:cNvPr>
          <p:cNvSpPr>
            <a:spLocks xmlns:a="http://schemas.openxmlformats.org/drawingml/2006/main" noGrp="1"/>
          </p:cNvSpPr>
          <p:nvPr/>
        </p:nvSpPr>
        <p:spPr>
          <a:xfrm xmlns:a="http://schemas.openxmlformats.org/drawingml/2006/main">
            <a:off x="609600" y="60293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A coordinator reviews the source note and context before taking action.</a:t>
            </a:r>
          </a:p>
        </p:txBody>
      </p:sp>
    </p:spTree>
    <p:extLst>
      <p:ext uri="{BB962C8B-B14F-4D97-AF65-F5344CB8AC3E}">
        <p14:creationId xmlns:p14="http://schemas.microsoft.com/office/powerpoint/2010/main" val="671308740"/>
      </p:ext>
    </p:extLst>
  </p:cSld>
</p:sld>
</file>

<file path=ppt/slides/slide9.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396A56-112C-4D7F-8F76-53501947B48A}"/>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Saved model results</a:t>
            </a:r>
          </a:p>
        </p:txBody>
      </p:sp>
      <p:sp>
        <p:nvSpPr>
          <p:cNvPr id="2" name="">
            <a:extLst xmlns:a="http://schemas.openxmlformats.org/drawingml/2006/main">
              <a:ext uri="{FF2B5EF4-FFF2-40B4-BE49-F238E27FC236}">
                <a16:creationId xmlns:a16="http://schemas.microsoft.com/office/drawing/2014/main" id="{C07E1002-B7CD-4A1B-AD17-8067E6D18B7C}"/>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09</a:t>
            </a:r>
          </a:p>
        </p:txBody>
      </p:sp>
      <p:graphicFrame>
        <p:nvGraphicFramePr>
          <p:cNvPr id="8" name=""/>
          <p:cNvGraphicFramePr/>
          <p:nvPr/>
        </p:nvGraphicFramePr>
        <p:xfrm>
          <a:off xmlns:a="http://schemas.openxmlformats.org/drawingml/2006/main" x="609600" y="1724025"/>
          <a:ext xmlns:a="http://schemas.openxmlformats.org/drawingml/2006/main" cx="10972800" cy="3248025"/>
        </p:xfrm>
        <a:graphic xmlns:a="http://schemas.openxmlformats.org/drawingml/2006/main">
          <a:graphicData uri="http://schemas.openxmlformats.org/drawingml/2006/table">
            <a:tbl>
              <a:tblPr/>
              <a:tblGrid>
                <a:gridCol w="2952750"/>
                <a:gridCol w="4238625"/>
                <a:gridCol w="3781425"/>
              </a:tblGrid>
              <a:tr h="812006">
                <a:tc>
                  <a:txBody>
                    <a:bodyPr/>
                    <a:lstStyle/>
                    <a:p>
                      <a:r>
                        <a:rPr sz="1875" b="1">
                          <a:solidFill>
                            <a:srgbClr val="FFFFFF"/>
                          </a:solidFill>
                          <a:latin typeface="Arial"/>
                          <a:ea typeface="Arial"/>
                          <a:cs typeface="Arial"/>
                        </a:rPr>
                        <a:t>Experiment</a:t>
                      </a:r>
                    </a:p>
                  </a:txBody>
                  <a:tcPr marL="142875" marR="142875" marT="114300" marB="95250" anchor="ctr">
                    <a:solidFill>
                      <a:srgbClr val="16251E"/>
                    </a:solidFill>
                  </a:tcPr>
                </a:tc>
                <a:tc>
                  <a:txBody>
                    <a:bodyPr/>
                    <a:lstStyle/>
                    <a:p>
                      <a:r>
                        <a:rPr sz="1875" b="1">
                          <a:solidFill>
                            <a:srgbClr val="FFFFFF"/>
                          </a:solidFill>
                          <a:latin typeface="Arial"/>
                          <a:ea typeface="Arial"/>
                          <a:cs typeface="Arial"/>
                        </a:rPr>
                        <a:t>Recorded result</a:t>
                      </a:r>
                    </a:p>
                  </a:txBody>
                  <a:tcPr marL="142875" marR="142875" marT="114300" marB="95250" anchor="ctr">
                    <a:solidFill>
                      <a:srgbClr val="16251E"/>
                    </a:solidFill>
                  </a:tcPr>
                </a:tc>
                <a:tc>
                  <a:txBody>
                    <a:bodyPr/>
                    <a:lstStyle/>
                    <a:p>
                      <a:r>
                        <a:rPr sz="1875" b="1">
                          <a:solidFill>
                            <a:srgbClr val="FFFFFF"/>
                          </a:solidFill>
                          <a:latin typeface="Arial"/>
                          <a:ea typeface="Arial"/>
                          <a:cs typeface="Arial"/>
                        </a:rPr>
                        <a:t>Evaluation</a:t>
                      </a:r>
                    </a:p>
                  </a:txBody>
                  <a:tcPr marL="142875" marR="142875" marT="114300" marB="95250" anchor="ctr">
                    <a:solidFill>
                      <a:srgbClr val="16251E"/>
                    </a:solidFill>
                  </a:tcPr>
                </a:tc>
              </a:tr>
              <a:tr h="812006">
                <a:tc>
                  <a:txBody>
                    <a:bodyPr/>
                    <a:lstStyle/>
                    <a:p>
                      <a:r>
                        <a:rPr sz="1875">
                          <a:solidFill>
                            <a:srgbClr val="16251E"/>
                          </a:solidFill>
                          <a:latin typeface="Arial"/>
                          <a:ea typeface="Arial"/>
                          <a:cs typeface="Arial"/>
                        </a:rPr>
                        <a:t>Random Forest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RMSE 2.89 months</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Held-out notebook test split</a:t>
                      </a:r>
                    </a:p>
                  </a:txBody>
                  <a:tcPr marL="142875" marR="142875" marT="114300" marB="95250" anchor="ctr">
                    <a:solidFill>
                      <a:srgbClr val="F5F6F2"/>
                    </a:solidFill>
                  </a:tcPr>
                </a:tc>
              </a:tr>
              <a:tr h="812006">
                <a:tc>
                  <a:txBody>
                    <a:bodyPr/>
                    <a:lstStyle/>
                    <a:p>
                      <a:r>
                        <a:rPr sz="1875">
                          <a:solidFill>
                            <a:srgbClr val="16251E"/>
                          </a:solidFill>
                          <a:latin typeface="Arial"/>
                          <a:ea typeface="Arial"/>
                          <a:cs typeface="Arial"/>
                        </a:rPr>
                        <a:t>Random Forest</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RMSE 2.73 months</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Notebook cross-validation</a:t>
                      </a:r>
                    </a:p>
                  </a:txBody>
                  <a:tcPr marL="142875" marR="142875" marT="114300" marB="95250" anchor="ctr">
                    <a:solidFill>
                      <a:srgbClr val="F5F6F2"/>
                    </a:solidFill>
                  </a:tcPr>
                </a:tc>
              </a:tr>
              <a:tr h="812006">
                <a:tc>
                  <a:txBody>
                    <a:bodyPr/>
                    <a:lstStyle/>
                    <a:p>
                      <a:r>
                        <a:rPr sz="1875">
                          <a:solidFill>
                            <a:srgbClr val="16251E"/>
                          </a:solidFill>
                          <a:latin typeface="Arial"/>
                          <a:ea typeface="Arial"/>
                          <a:cs typeface="Arial"/>
                        </a:rPr>
                        <a:t>Tuned LSTM</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RMSE 6.57 months</a:t>
                      </a:r>
                    </a:p>
                    <a:p>
                      <a:r>
                        <a:rPr sz="1875">
                          <a:solidFill>
                            <a:srgbClr val="16251E"/>
                          </a:solidFill>
                          <a:latin typeface="Arial"/>
                          <a:ea typeface="Arial"/>
                          <a:cs typeface="Arial"/>
                        </a:rPr>
                        <a:t>MAE 3.94 months, R² 0.89</a:t>
                      </a:r>
                    </a:p>
                  </a:txBody>
                  <a:tcPr marL="142875" marR="142875" marT="114300" marB="95250" anchor="ctr">
                    <a:solidFill>
                      <a:srgbClr val="F5F6F2"/>
                    </a:solidFill>
                  </a:tcPr>
                </a:tc>
                <a:tc>
                  <a:txBody>
                    <a:bodyPr/>
                    <a:lstStyle/>
                    <a:p>
                      <a:r>
                        <a:rPr sz="1875">
                          <a:solidFill>
                            <a:srgbClr val="16251E"/>
                          </a:solidFill>
                          <a:latin typeface="Arial"/>
                          <a:ea typeface="Arial"/>
                          <a:cs typeface="Arial"/>
                        </a:rPr>
                        <a:t>Five-fold notebook averages</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96B01409-A159-4329-B5D3-8F6D36A53350}"/>
              </a:ext>
            </a:extLst>
          </p:cNvPr>
          <p:cNvSpPr>
            <a:spLocks xmlns:a="http://schemas.openxmlformats.org/drawingml/2006/main" noGrp="1"/>
          </p:cNvSpPr>
          <p:nvPr/>
        </p:nvSpPr>
        <p:spPr>
          <a:xfrm xmlns:a="http://schemas.openxmlformats.org/drawingml/2006/main">
            <a:off x="609600" y="5353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07D55"/>
                </a:solidFill>
                <a:latin typeface="Arial"/>
                <a:ea typeface="Arial"/>
                <a:cs typeface="Arial"/>
              </a:defRPr>
            </a:pPr>
            <a:r>
              <a:rPr sz="2250" b="1">
                <a:solidFill>
                  <a:srgbClr val="007D55"/>
                </a:solidFill>
                <a:latin typeface="Arial"/>
                <a:ea typeface="Arial"/>
                <a:cs typeface="Arial"/>
              </a:rPr>
              <a:t>These experiments do not support a direct model ranking</a:t>
            </a:r>
          </a:p>
        </p:txBody>
      </p:sp>
      <p:sp>
        <p:nvSpPr>
          <p:cNvPr id="5" name="">
            <a:extLst xmlns:a="http://schemas.openxmlformats.org/drawingml/2006/main">
              <a:ext uri="{FF2B5EF4-FFF2-40B4-BE49-F238E27FC236}">
                <a16:creationId xmlns:a16="http://schemas.microsoft.com/office/drawing/2014/main" id="{46470E1E-3356-4D2B-B05C-403063B6D9A0}"/>
              </a:ext>
            </a:extLst>
          </p:cNvPr>
          <p:cNvSpPr>
            <a:spLocks xmlns:a="http://schemas.openxmlformats.org/drawingml/2006/main" noGrp="1"/>
          </p:cNvSpPr>
          <p:nvPr/>
        </p:nvSpPr>
        <p:spPr>
          <a:xfrm xmlns:a="http://schemas.openxmlformats.org/drawingml/2006/main">
            <a:off x="609600" y="60579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Different input provenance and evaluation limitations require a fresh common benchmark.</a:t>
            </a:r>
          </a:p>
        </p:txBody>
      </p:sp>
    </p:spTree>
    <p:extLst>
      <p:ext uri="{BB962C8B-B14F-4D97-AF65-F5344CB8AC3E}">
        <p14:creationId xmlns:p14="http://schemas.microsoft.com/office/powerpoint/2010/main" val="207935267"/>
      </p:ext>
    </p:extLst>
  </p:cSld>
</p:sld>
</file>

<file path=ppt/slides/slide10.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2D499B-3A12-44B1-B0A4-600DCAAE4A26}"/>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Validation needed before prediction use</a:t>
            </a:r>
          </a:p>
        </p:txBody>
      </p:sp>
      <p:sp>
        <p:nvSpPr>
          <p:cNvPr id="2" name="">
            <a:extLst xmlns:a="http://schemas.openxmlformats.org/drawingml/2006/main">
              <a:ext uri="{FF2B5EF4-FFF2-40B4-BE49-F238E27FC236}">
                <a16:creationId xmlns:a16="http://schemas.microsoft.com/office/drawing/2014/main" id="{18BE5A5D-6B03-46C8-B07C-8C1F150A59A7}"/>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F90E395-A5B6-41DF-BDEC-302744345D26}"/>
              </a:ext>
            </a:extLst>
          </p:cNvPr>
          <p:cNvSpPr>
            <a:spLocks xmlns:a="http://schemas.openxmlformats.org/drawingml/2006/main" noGrp="1"/>
          </p:cNvSpPr>
          <p:nvPr/>
        </p:nvSpPr>
        <p:spPr>
          <a:xfrm xmlns:a="http://schemas.openxmlformats.org/drawingml/2006/main">
            <a:off x="609600" y="17716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Observation cutoff</a:t>
            </a:r>
          </a:p>
        </p:txBody>
      </p:sp>
      <p:sp>
        <p:nvSpPr>
          <p:cNvPr id="4" name="">
            <a:extLst xmlns:a="http://schemas.openxmlformats.org/drawingml/2006/main">
              <a:ext uri="{FF2B5EF4-FFF2-40B4-BE49-F238E27FC236}">
                <a16:creationId xmlns:a16="http://schemas.microsoft.com/office/drawing/2014/main" id="{B4DD5568-BF11-4D65-A8A9-B4B86209C0AF}"/>
              </a:ext>
            </a:extLst>
          </p:cNvPr>
          <p:cNvSpPr>
            <a:spLocks xmlns:a="http://schemas.openxmlformats.org/drawingml/2006/main" noGrp="1"/>
          </p:cNvSpPr>
          <p:nvPr/>
        </p:nvSpPr>
        <p:spPr>
          <a:xfrm xmlns:a="http://schemas.openxmlformats.org/drawingml/2006/main">
            <a:off x="3990975" y="1771650"/>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Use only notes and fields available when the prediction is made.</a:t>
            </a:r>
          </a:p>
        </p:txBody>
      </p:sp>
      <p:sp>
        <p:nvSpPr>
          <p:cNvPr id="5" name="">
            <a:extLst xmlns:a="http://schemas.openxmlformats.org/drawingml/2006/main">
              <a:ext uri="{FF2B5EF4-FFF2-40B4-BE49-F238E27FC236}">
                <a16:creationId xmlns:a16="http://schemas.microsoft.com/office/drawing/2014/main" id="{F6446D06-62E9-49D3-81AC-83163F9BF64A}"/>
              </a:ext>
            </a:extLst>
          </p:cNvPr>
          <p:cNvSpPr>
            <a:spLocks xmlns:a="http://schemas.openxmlformats.org/drawingml/2006/main" noGrp="1"/>
          </p:cNvSpPr>
          <p:nvPr/>
        </p:nvSpPr>
        <p:spPr>
          <a:xfrm xmlns:a="http://schemas.openxmlformats.org/drawingml/2006/main">
            <a:off x="609600" y="28003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Independent evaluation</a:t>
            </a:r>
          </a:p>
        </p:txBody>
      </p:sp>
      <p:sp>
        <p:nvSpPr>
          <p:cNvPr id="6" name="">
            <a:extLst xmlns:a="http://schemas.openxmlformats.org/drawingml/2006/main">
              <a:ext uri="{FF2B5EF4-FFF2-40B4-BE49-F238E27FC236}">
                <a16:creationId xmlns:a16="http://schemas.microsoft.com/office/drawing/2014/main" id="{5BA0C569-B846-4985-8273-CD1241E64C75}"/>
              </a:ext>
            </a:extLst>
          </p:cNvPr>
          <p:cNvSpPr>
            <a:spLocks xmlns:a="http://schemas.openxmlformats.org/drawingml/2006/main" noGrp="1"/>
          </p:cNvSpPr>
          <p:nvPr/>
        </p:nvSpPr>
        <p:spPr>
          <a:xfrm xmlns:a="http://schemas.openxmlformats.org/drawingml/2006/main">
            <a:off x="3990975" y="2800350"/>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Hold out matches and later periods. Fit preprocessing inside each training fold.</a:t>
            </a:r>
          </a:p>
        </p:txBody>
      </p:sp>
      <p:sp>
        <p:nvSpPr>
          <p:cNvPr id="7" name="">
            <a:extLst xmlns:a="http://schemas.openxmlformats.org/drawingml/2006/main">
              <a:ext uri="{FF2B5EF4-FFF2-40B4-BE49-F238E27FC236}">
                <a16:creationId xmlns:a16="http://schemas.microsoft.com/office/drawing/2014/main" id="{2DA66A92-417A-4BD4-8054-EE08B9F1BBBD}"/>
              </a:ext>
            </a:extLst>
          </p:cNvPr>
          <p:cNvSpPr>
            <a:spLocks xmlns:a="http://schemas.openxmlformats.org/drawingml/2006/main" noGrp="1"/>
          </p:cNvSpPr>
          <p:nvPr/>
        </p:nvSpPr>
        <p:spPr>
          <a:xfrm xmlns:a="http://schemas.openxmlformats.org/drawingml/2006/main">
            <a:off x="609600" y="40100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Ongoing matches</a:t>
            </a:r>
          </a:p>
        </p:txBody>
      </p:sp>
      <p:sp>
        <p:nvSpPr>
          <p:cNvPr id="8" name="">
            <a:extLst xmlns:a="http://schemas.openxmlformats.org/drawingml/2006/main">
              <a:ext uri="{FF2B5EF4-FFF2-40B4-BE49-F238E27FC236}">
                <a16:creationId xmlns:a16="http://schemas.microsoft.com/office/drawing/2014/main" id="{05AFF845-0817-4243-8C54-1541B6C8BE7D}"/>
              </a:ext>
            </a:extLst>
          </p:cNvPr>
          <p:cNvSpPr>
            <a:spLocks xmlns:a="http://schemas.openxmlformats.org/drawingml/2006/main" noGrp="1"/>
          </p:cNvSpPr>
          <p:nvPr/>
        </p:nvSpPr>
        <p:spPr>
          <a:xfrm xmlns:a="http://schemas.openxmlformats.org/drawingml/2006/main">
            <a:off x="3990975" y="4010025"/>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Separate elapsed duration from final closure duration for active matches.</a:t>
            </a:r>
          </a:p>
        </p:txBody>
      </p:sp>
      <p:sp>
        <p:nvSpPr>
          <p:cNvPr id="9" name="">
            <a:extLst xmlns:a="http://schemas.openxmlformats.org/drawingml/2006/main">
              <a:ext uri="{FF2B5EF4-FFF2-40B4-BE49-F238E27FC236}">
                <a16:creationId xmlns:a16="http://schemas.microsoft.com/office/drawing/2014/main" id="{2F95B24F-ABED-4A48-9496-231221F88543}"/>
              </a:ext>
            </a:extLst>
          </p:cNvPr>
          <p:cNvSpPr>
            <a:spLocks xmlns:a="http://schemas.openxmlformats.org/drawingml/2006/main" noGrp="1"/>
          </p:cNvSpPr>
          <p:nvPr/>
        </p:nvSpPr>
        <p:spPr>
          <a:xfrm xmlns:a="http://schemas.openxmlformats.org/drawingml/2006/main">
            <a:off x="609600" y="51435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07D55"/>
                </a:solidFill>
                <a:latin typeface="Arial"/>
                <a:ea typeface="Arial"/>
                <a:cs typeface="Arial"/>
              </a:defRPr>
            </a:pPr>
            <a:r>
              <a:rPr sz="2025" b="1">
                <a:solidFill>
                  <a:srgbClr val="007D55"/>
                </a:solidFill>
                <a:latin typeface="Arial"/>
                <a:ea typeface="Arial"/>
                <a:cs typeface="Arial"/>
              </a:rPr>
              <a:t>Common benchmark</a:t>
            </a:r>
          </a:p>
        </p:txBody>
      </p:sp>
      <p:sp>
        <p:nvSpPr>
          <p:cNvPr id="10" name="">
            <a:extLst xmlns:a="http://schemas.openxmlformats.org/drawingml/2006/main">
              <a:ext uri="{FF2B5EF4-FFF2-40B4-BE49-F238E27FC236}">
                <a16:creationId xmlns:a16="http://schemas.microsoft.com/office/drawing/2014/main" id="{6B07CE30-D2D2-459A-811D-5CA45ECC6044}"/>
              </a:ext>
            </a:extLst>
          </p:cNvPr>
          <p:cNvSpPr>
            <a:spLocks xmlns:a="http://schemas.openxmlformats.org/drawingml/2006/main" noGrp="1"/>
          </p:cNvSpPr>
          <p:nvPr/>
        </p:nvSpPr>
        <p:spPr>
          <a:xfrm xmlns:a="http://schemas.openxmlformats.org/drawingml/2006/main">
            <a:off x="3990975" y="5143500"/>
            <a:ext cx="738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6251E"/>
                </a:solidFill>
                <a:latin typeface="Arial"/>
                <a:ea typeface="Arial"/>
                <a:cs typeface="Arial"/>
              </a:defRPr>
            </a:pPr>
            <a:r>
              <a:rPr sz="2025" b="0">
                <a:solidFill>
                  <a:srgbClr val="16251E"/>
                </a:solidFill>
                <a:latin typeface="Arial"/>
                <a:ea typeface="Arial"/>
                <a:cs typeface="Arial"/>
              </a:rPr>
              <a:t>Compare against a simple baseline on the same cohort and cutoff.</a:t>
            </a:r>
          </a:p>
        </p:txBody>
      </p:sp>
    </p:spTree>
    <p:extLst>
      <p:ext uri="{BB962C8B-B14F-4D97-AF65-F5344CB8AC3E}">
        <p14:creationId xmlns:p14="http://schemas.microsoft.com/office/powerpoint/2010/main" val="865847599"/>
      </p:ext>
    </p:extLst>
  </p:cSld>
</p:sld>
</file>

<file path=ppt/slides/slide11.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60E4E0-74AC-48D2-9E01-EC4758AF43FA}"/>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Existing Power BI dashboard</a:t>
            </a:r>
          </a:p>
        </p:txBody>
      </p:sp>
      <p:sp>
        <p:nvSpPr>
          <p:cNvPr id="2" name="">
            <a:extLst xmlns:a="http://schemas.openxmlformats.org/drawingml/2006/main">
              <a:ext uri="{FF2B5EF4-FFF2-40B4-BE49-F238E27FC236}">
                <a16:creationId xmlns:a16="http://schemas.microsoft.com/office/drawing/2014/main" id="{4E6BF7B0-EF5D-4DDE-ABC9-9E95255D4871}"/>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eef59d0c4f4794"/>
          <a:stretch xmlns:a="http://schemas.openxmlformats.org/drawingml/2006/main"/>
        </p:blipFill>
        <p:spPr>
          <a:xfrm xmlns:a="http://schemas.openxmlformats.org/drawingml/2006/main">
            <a:off x="615551" y="1581150"/>
            <a:ext cx="8608223" cy="4876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A17CBA-D65B-480C-8FD2-F6B3A5BA7059}"/>
              </a:ext>
            </a:extLst>
          </p:cNvPr>
          <p:cNvSpPr>
            <a:spLocks xmlns:a="http://schemas.openxmlformats.org/drawingml/2006/main" noGrp="1"/>
          </p:cNvSpPr>
          <p:nvPr/>
        </p:nvSpPr>
        <p:spPr>
          <a:xfrm xmlns:a="http://schemas.openxmlformats.org/drawingml/2006/main">
            <a:off x="9525000" y="1981200"/>
            <a:ext cx="2124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7D55"/>
                </a:solidFill>
                <a:latin typeface="Arial"/>
                <a:ea typeface="Arial"/>
                <a:cs typeface="Arial"/>
              </a:defRPr>
            </a:pPr>
            <a:r>
              <a:rPr sz="2100" b="1">
                <a:solidFill>
                  <a:srgbClr val="007D55"/>
                </a:solidFill>
                <a:latin typeface="Arial"/>
                <a:ea typeface="Arial"/>
                <a:cs typeface="Arial"/>
              </a:rPr>
              <a:t>Event trends</a:t>
            </a:r>
          </a:p>
        </p:txBody>
      </p:sp>
      <p:sp>
        <p:nvSpPr>
          <p:cNvPr id="5" name="">
            <a:extLst xmlns:a="http://schemas.openxmlformats.org/drawingml/2006/main">
              <a:ext uri="{FF2B5EF4-FFF2-40B4-BE49-F238E27FC236}">
                <a16:creationId xmlns:a16="http://schemas.microsoft.com/office/drawing/2014/main" id="{DD097D54-EBDE-403A-9B16-E8FFE3112E08}"/>
              </a:ext>
            </a:extLst>
          </p:cNvPr>
          <p:cNvSpPr>
            <a:spLocks xmlns:a="http://schemas.openxmlformats.org/drawingml/2006/main" noGrp="1"/>
          </p:cNvSpPr>
          <p:nvPr/>
        </p:nvSpPr>
        <p:spPr>
          <a:xfrm xmlns:a="http://schemas.openxmlformats.org/drawingml/2006/main">
            <a:off x="9525000" y="2476500"/>
            <a:ext cx="20859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Review patterns by</a:t>
            </a:r>
          </a:p>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period and program.</a:t>
            </a:r>
          </a:p>
        </p:txBody>
      </p:sp>
      <p:sp>
        <p:nvSpPr>
          <p:cNvPr id="6" name="">
            <a:extLst xmlns:a="http://schemas.openxmlformats.org/drawingml/2006/main">
              <a:ext uri="{FF2B5EF4-FFF2-40B4-BE49-F238E27FC236}">
                <a16:creationId xmlns:a16="http://schemas.microsoft.com/office/drawing/2014/main" id="{0B0609D4-451C-4D86-9CCB-A7669B45FEC6}"/>
              </a:ext>
            </a:extLst>
          </p:cNvPr>
          <p:cNvSpPr>
            <a:spLocks xmlns:a="http://schemas.openxmlformats.org/drawingml/2006/main" noGrp="1"/>
          </p:cNvSpPr>
          <p:nvPr/>
        </p:nvSpPr>
        <p:spPr>
          <a:xfrm xmlns:a="http://schemas.openxmlformats.org/drawingml/2006/main">
            <a:off x="9525000" y="4019550"/>
            <a:ext cx="2124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7D55"/>
                </a:solidFill>
                <a:latin typeface="Arial"/>
                <a:ea typeface="Arial"/>
                <a:cs typeface="Arial"/>
              </a:defRPr>
            </a:pPr>
            <a:r>
              <a:rPr sz="2100" b="1">
                <a:solidFill>
                  <a:srgbClr val="007D55"/>
                </a:solidFill>
                <a:latin typeface="Arial"/>
                <a:ea typeface="Arial"/>
                <a:cs typeface="Arial"/>
              </a:rPr>
              <a:t>Match context</a:t>
            </a:r>
          </a:p>
        </p:txBody>
      </p:sp>
      <p:sp>
        <p:nvSpPr>
          <p:cNvPr id="7" name="">
            <a:extLst xmlns:a="http://schemas.openxmlformats.org/drawingml/2006/main">
              <a:ext uri="{FF2B5EF4-FFF2-40B4-BE49-F238E27FC236}">
                <a16:creationId xmlns:a16="http://schemas.microsoft.com/office/drawing/2014/main" id="{FFD5345A-77E2-400F-AB1E-22A5B98C506D}"/>
              </a:ext>
            </a:extLst>
          </p:cNvPr>
          <p:cNvSpPr>
            <a:spLocks xmlns:a="http://schemas.openxmlformats.org/drawingml/2006/main" noGrp="1"/>
          </p:cNvSpPr>
          <p:nvPr/>
        </p:nvSpPr>
        <p:spPr>
          <a:xfrm xmlns:a="http://schemas.openxmlformats.org/drawingml/2006/main">
            <a:off x="9525000" y="4514850"/>
            <a:ext cx="20859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Use the dashboard</a:t>
            </a:r>
          </a:p>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to guide a staff</a:t>
            </a:r>
          </a:p>
          <a:p xmlns:a="http://schemas.openxmlformats.org/drawingml/2006/main">
            <a:pPr>
              <a:defRPr sz="1875" b="0">
                <a:solidFill>
                  <a:srgbClr val="16251E"/>
                </a:solidFill>
                <a:latin typeface="Arial"/>
                <a:ea typeface="Arial"/>
                <a:cs typeface="Arial"/>
              </a:defRPr>
            </a:pPr>
            <a:r>
              <a:rPr sz="1875" b="0">
                <a:solidFill>
                  <a:srgbClr val="16251E"/>
                </a:solidFill>
                <a:latin typeface="Arial"/>
                <a:ea typeface="Arial"/>
                <a:cs typeface="Arial"/>
              </a:rPr>
              <a:t>review of the notes.</a:t>
            </a:r>
          </a:p>
        </p:txBody>
      </p:sp>
    </p:spTree>
    <p:extLst>
      <p:ext uri="{BB962C8B-B14F-4D97-AF65-F5344CB8AC3E}">
        <p14:creationId xmlns:p14="http://schemas.microsoft.com/office/powerpoint/2010/main" val="1912981915"/>
      </p:ext>
    </p:extLst>
  </p:cSld>
</p:sld>
</file>

<file path=ppt/slides/slide1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2507E7-13CB-4CD7-85EC-4E06A75B2CEC}"/>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LLM cost and implementation</a:t>
            </a:r>
          </a:p>
        </p:txBody>
      </p:sp>
      <p:sp>
        <p:nvSpPr>
          <p:cNvPr id="2" name="">
            <a:extLst xmlns:a="http://schemas.openxmlformats.org/drawingml/2006/main">
              <a:ext uri="{FF2B5EF4-FFF2-40B4-BE49-F238E27FC236}">
                <a16:creationId xmlns:a16="http://schemas.microsoft.com/office/drawing/2014/main" id="{D3928E5B-FD08-485A-B230-2BD08E4594CC}"/>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F0CB719C-516C-4454-BB08-68FFB54DDEB6}"/>
              </a:ext>
            </a:extLst>
          </p:cNvPr>
          <p:cNvSpPr>
            <a:spLocks xmlns:a="http://schemas.openxmlformats.org/drawingml/2006/main" noGrp="1"/>
          </p:cNvSpPr>
          <p:nvPr/>
        </p:nvSpPr>
        <p:spPr>
          <a:xfrm xmlns:a="http://schemas.openxmlformats.org/drawingml/2006/main">
            <a:off x="609600" y="1752600"/>
            <a:ext cx="108870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007D55"/>
                </a:solidFill>
                <a:latin typeface="Arial"/>
                <a:ea typeface="Arial"/>
                <a:cs typeface="Arial"/>
              </a:defRPr>
            </a:pPr>
            <a:r>
              <a:rPr sz="2850" b="1">
                <a:solidFill>
                  <a:srgbClr val="007D55"/>
                </a:solidFill>
                <a:latin typeface="Arial"/>
                <a:ea typeface="Arial"/>
                <a:cs typeface="Arial"/>
              </a:rPr>
              <a:t>Cost depends on note volume</a:t>
            </a:r>
          </a:p>
          <a:p xmlns:a="http://schemas.openxmlformats.org/drawingml/2006/main">
            <a:pPr>
              <a:defRPr sz="2850" b="1">
                <a:solidFill>
                  <a:srgbClr val="007D55"/>
                </a:solidFill>
                <a:latin typeface="Arial"/>
                <a:ea typeface="Arial"/>
                <a:cs typeface="Arial"/>
              </a:defRPr>
            </a:pPr>
            <a:r>
              <a:rPr sz="2850" b="1">
                <a:solidFill>
                  <a:srgbClr val="007D55"/>
                </a:solidFill>
                <a:latin typeface="Arial"/>
                <a:ea typeface="Arial"/>
                <a:cs typeface="Arial"/>
              </a:rPr>
              <a:t>and repeated conversation context</a:t>
            </a:r>
          </a:p>
        </p:txBody>
      </p:sp>
      <p:sp>
        <p:nvSpPr>
          <p:cNvPr id="4" name="">
            <a:extLst xmlns:a="http://schemas.openxmlformats.org/drawingml/2006/main">
              <a:ext uri="{FF2B5EF4-FFF2-40B4-BE49-F238E27FC236}">
                <a16:creationId xmlns:a16="http://schemas.microsoft.com/office/drawing/2014/main" id="{82802A41-E6B8-4D68-9657-E47B24019FD2}"/>
              </a:ext>
            </a:extLst>
          </p:cNvPr>
          <p:cNvSpPr>
            <a:spLocks xmlns:a="http://schemas.openxmlformats.org/drawingml/2006/main" noGrp="1"/>
          </p:cNvSpPr>
          <p:nvPr/>
        </p:nvSpPr>
        <p:spPr>
          <a:xfrm xmlns:a="http://schemas.openxmlformats.org/drawingml/2006/main">
            <a:off x="609600" y="327660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Usage accounting</a:t>
            </a:r>
          </a:p>
        </p:txBody>
      </p:sp>
      <p:sp>
        <p:nvSpPr>
          <p:cNvPr id="5" name="">
            <a:extLst xmlns:a="http://schemas.openxmlformats.org/drawingml/2006/main">
              <a:ext uri="{FF2B5EF4-FFF2-40B4-BE49-F238E27FC236}">
                <a16:creationId xmlns:a16="http://schemas.microsoft.com/office/drawing/2014/main" id="{9D49CA77-AF51-4EF9-933A-5B1586A6DC15}"/>
              </a:ext>
            </a:extLst>
          </p:cNvPr>
          <p:cNvSpPr>
            <a:spLocks xmlns:a="http://schemas.openxmlformats.org/drawingml/2006/main" noGrp="1"/>
          </p:cNvSpPr>
          <p:nvPr/>
        </p:nvSpPr>
        <p:spPr>
          <a:xfrm xmlns:a="http://schemas.openxmlformats.org/drawingml/2006/main">
            <a:off x="3705225" y="3276600"/>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Track billed input and output tokens, retries and successful records.</a:t>
            </a:r>
          </a:p>
        </p:txBody>
      </p:sp>
      <p:sp>
        <p:nvSpPr>
          <p:cNvPr id="6" name="">
            <a:extLst xmlns:a="http://schemas.openxmlformats.org/drawingml/2006/main">
              <a:ext uri="{FF2B5EF4-FFF2-40B4-BE49-F238E27FC236}">
                <a16:creationId xmlns:a16="http://schemas.microsoft.com/office/drawing/2014/main" id="{0939D747-E6B4-49D7-AB25-00BD287F0BBC}"/>
              </a:ext>
            </a:extLst>
          </p:cNvPr>
          <p:cNvSpPr>
            <a:spLocks xmlns:a="http://schemas.openxmlformats.org/drawingml/2006/main" noGrp="1"/>
          </p:cNvSpPr>
          <p:nvPr/>
        </p:nvSpPr>
        <p:spPr>
          <a:xfrm xmlns:a="http://schemas.openxmlformats.org/drawingml/2006/main">
            <a:off x="609600" y="41814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Processing approach</a:t>
            </a:r>
          </a:p>
        </p:txBody>
      </p:sp>
      <p:sp>
        <p:nvSpPr>
          <p:cNvPr id="7" name="">
            <a:extLst xmlns:a="http://schemas.openxmlformats.org/drawingml/2006/main">
              <a:ext uri="{FF2B5EF4-FFF2-40B4-BE49-F238E27FC236}">
                <a16:creationId xmlns:a16="http://schemas.microsoft.com/office/drawing/2014/main" id="{5D0142A4-902B-4496-A565-F74FBD597F42}"/>
              </a:ext>
            </a:extLst>
          </p:cNvPr>
          <p:cNvSpPr>
            <a:spLocks xmlns:a="http://schemas.openxmlformats.org/drawingml/2006/main" noGrp="1"/>
          </p:cNvSpPr>
          <p:nvPr/>
        </p:nvSpPr>
        <p:spPr>
          <a:xfrm xmlns:a="http://schemas.openxmlformats.org/drawingml/2006/main">
            <a:off x="3705225" y="4181475"/>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Process new notes incrementally and reuse unchanged results.</a:t>
            </a:r>
          </a:p>
        </p:txBody>
      </p:sp>
      <p:sp>
        <p:nvSpPr>
          <p:cNvPr id="8" name="">
            <a:extLst xmlns:a="http://schemas.openxmlformats.org/drawingml/2006/main">
              <a:ext uri="{FF2B5EF4-FFF2-40B4-BE49-F238E27FC236}">
                <a16:creationId xmlns:a16="http://schemas.microsoft.com/office/drawing/2014/main" id="{C4CC69D8-02AD-4D73-833B-A24EC7C4BE65}"/>
              </a:ext>
            </a:extLst>
          </p:cNvPr>
          <p:cNvSpPr>
            <a:spLocks xmlns:a="http://schemas.openxmlformats.org/drawingml/2006/main" noGrp="1"/>
          </p:cNvSpPr>
          <p:nvPr/>
        </p:nvSpPr>
        <p:spPr>
          <a:xfrm xmlns:a="http://schemas.openxmlformats.org/drawingml/2006/main">
            <a:off x="609600" y="50863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7D55"/>
                </a:solidFill>
                <a:latin typeface="Arial"/>
                <a:ea typeface="Arial"/>
                <a:cs typeface="Arial"/>
              </a:defRPr>
            </a:pPr>
            <a:r>
              <a:rPr sz="1950" b="1">
                <a:solidFill>
                  <a:srgbClr val="007D55"/>
                </a:solidFill>
                <a:latin typeface="Arial"/>
                <a:ea typeface="Arial"/>
                <a:cs typeface="Arial"/>
              </a:rPr>
              <a:t>Pilot comparison</a:t>
            </a:r>
          </a:p>
        </p:txBody>
      </p:sp>
      <p:sp>
        <p:nvSpPr>
          <p:cNvPr id="9" name="">
            <a:extLst xmlns:a="http://schemas.openxmlformats.org/drawingml/2006/main">
              <a:ext uri="{FF2B5EF4-FFF2-40B4-BE49-F238E27FC236}">
                <a16:creationId xmlns:a16="http://schemas.microsoft.com/office/drawing/2014/main" id="{6D75F450-C21D-40FA-9DDF-FEC17F78598A}"/>
              </a:ext>
            </a:extLst>
          </p:cNvPr>
          <p:cNvSpPr>
            <a:spLocks xmlns:a="http://schemas.openxmlformats.org/drawingml/2006/main" noGrp="1"/>
          </p:cNvSpPr>
          <p:nvPr/>
        </p:nvSpPr>
        <p:spPr>
          <a:xfrm xmlns:a="http://schemas.openxmlformats.org/drawingml/2006/main">
            <a:off x="3705225" y="5086350"/>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Measure cost per reviewed match alongside staff review time.</a:t>
            </a:r>
          </a:p>
        </p:txBody>
      </p:sp>
      <p:sp>
        <p:nvSpPr>
          <p:cNvPr id="10" name="">
            <a:extLst xmlns:a="http://schemas.openxmlformats.org/drawingml/2006/main">
              <a:ext uri="{FF2B5EF4-FFF2-40B4-BE49-F238E27FC236}">
                <a16:creationId xmlns:a16="http://schemas.microsoft.com/office/drawing/2014/main" id="{018BB557-7910-45BE-96DA-512B698F50AF}"/>
              </a:ext>
            </a:extLst>
          </p:cNvPr>
          <p:cNvSpPr>
            <a:spLocks xmlns:a="http://schemas.openxmlformats.org/drawingml/2006/main" noGrp="1"/>
          </p:cNvSpPr>
          <p:nvPr/>
        </p:nvSpPr>
        <p:spPr>
          <a:xfrm xmlns:a="http://schemas.openxmlformats.org/drawingml/2006/main">
            <a:off x="609600" y="6096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Estimated API cost = input tokens × input rate + output tokens × output rate, using consistent billing units.</a:t>
            </a:r>
          </a:p>
        </p:txBody>
      </p:sp>
    </p:spTree>
    <p:extLst>
      <p:ext uri="{BB962C8B-B14F-4D97-AF65-F5344CB8AC3E}">
        <p14:creationId xmlns:p14="http://schemas.microsoft.com/office/powerpoint/2010/main" val="1457823534"/>
      </p:ext>
    </p:extLst>
  </p:cSld>
</p:sld>
</file>

<file path=ppt/slides/slide1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AD299D-30DD-49A1-B606-2BF8B215E666}"/>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Competition feedback</a:t>
            </a:r>
          </a:p>
        </p:txBody>
      </p:sp>
      <p:sp>
        <p:nvSpPr>
          <p:cNvPr id="2" name="">
            <a:extLst xmlns:a="http://schemas.openxmlformats.org/drawingml/2006/main">
              <a:ext uri="{FF2B5EF4-FFF2-40B4-BE49-F238E27FC236}">
                <a16:creationId xmlns:a16="http://schemas.microsoft.com/office/drawing/2014/main" id="{BB313ADE-7D44-4110-9D07-0B89291CAE71}"/>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EFEF39D-08D0-40B9-8EF2-397E4C0D6DAE}"/>
              </a:ext>
            </a:extLst>
          </p:cNvPr>
          <p:cNvSpPr>
            <a:spLocks xmlns:a="http://schemas.openxmlformats.org/drawingml/2006/main" noGrp="1"/>
          </p:cNvSpPr>
          <p:nvPr/>
        </p:nvSpPr>
        <p:spPr>
          <a:xfrm xmlns:a="http://schemas.openxmlformats.org/drawingml/2006/main">
            <a:off x="609600" y="1685925"/>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625" b="1">
                <a:solidFill>
                  <a:srgbClr val="007D55"/>
                </a:solidFill>
                <a:latin typeface="Arial"/>
                <a:ea typeface="Arial"/>
                <a:cs typeface="Arial"/>
              </a:defRPr>
            </a:pPr>
            <a:r>
              <a:rPr sz="5625" b="1">
                <a:solidFill>
                  <a:srgbClr val="007D55"/>
                </a:solidFill>
                <a:latin typeface="Arial"/>
                <a:ea typeface="Arial"/>
                <a:cs typeface="Arial"/>
              </a:rPr>
              <a:t>60.29 / 80</a:t>
            </a:r>
          </a:p>
        </p:txBody>
      </p:sp>
      <p:sp>
        <p:nvSpPr>
          <p:cNvPr id="4" name="">
            <a:extLst xmlns:a="http://schemas.openxmlformats.org/drawingml/2006/main">
              <a:ext uri="{FF2B5EF4-FFF2-40B4-BE49-F238E27FC236}">
                <a16:creationId xmlns:a16="http://schemas.microsoft.com/office/drawing/2014/main" id="{71024D06-713F-461B-9115-54EFAC66309A}"/>
              </a:ext>
            </a:extLst>
          </p:cNvPr>
          <p:cNvSpPr>
            <a:spLocks xmlns:a="http://schemas.openxmlformats.org/drawingml/2006/main" noGrp="1"/>
          </p:cNvSpPr>
          <p:nvPr/>
        </p:nvSpPr>
        <p:spPr>
          <a:xfrm xmlns:a="http://schemas.openxmlformats.org/drawingml/2006/main">
            <a:off x="657225" y="28384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Team U37, Round 1</a:t>
            </a:r>
          </a:p>
        </p:txBody>
      </p:sp>
      <p:sp>
        <p:nvSpPr>
          <p:cNvPr id="5" name="">
            <a:extLst xmlns:a="http://schemas.openxmlformats.org/drawingml/2006/main">
              <a:ext uri="{FF2B5EF4-FFF2-40B4-BE49-F238E27FC236}">
                <a16:creationId xmlns:a16="http://schemas.microsoft.com/office/drawing/2014/main" id="{AA1B3EE0-4337-4735-9F1E-B24F08ADDFD6}"/>
              </a:ext>
            </a:extLst>
          </p:cNvPr>
          <p:cNvSpPr>
            <a:spLocks xmlns:a="http://schemas.openxmlformats.org/drawingml/2006/main" noGrp="1"/>
          </p:cNvSpPr>
          <p:nvPr/>
        </p:nvSpPr>
        <p:spPr>
          <a:xfrm xmlns:a="http://schemas.openxmlformats.org/drawingml/2006/main">
            <a:off x="7124700" y="168592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625" b="1">
                <a:solidFill>
                  <a:srgbClr val="16251E"/>
                </a:solidFill>
                <a:latin typeface="Arial"/>
                <a:ea typeface="Arial"/>
                <a:cs typeface="Arial"/>
              </a:defRPr>
            </a:pPr>
            <a:r>
              <a:rPr sz="5625" b="1">
                <a:solidFill>
                  <a:srgbClr val="16251E"/>
                </a:solidFill>
                <a:latin typeface="Arial"/>
                <a:ea typeface="Arial"/>
                <a:cs typeface="Arial"/>
              </a:rPr>
              <a:t>57.2</a:t>
            </a:r>
          </a:p>
        </p:txBody>
      </p:sp>
      <p:sp>
        <p:nvSpPr>
          <p:cNvPr id="6" name="">
            <a:extLst xmlns:a="http://schemas.openxmlformats.org/drawingml/2006/main">
              <a:ext uri="{FF2B5EF4-FFF2-40B4-BE49-F238E27FC236}">
                <a16:creationId xmlns:a16="http://schemas.microsoft.com/office/drawing/2014/main" id="{6D1DCB19-0E32-4DF7-A9B0-AB0607413B38}"/>
              </a:ext>
            </a:extLst>
          </p:cNvPr>
          <p:cNvSpPr>
            <a:spLocks xmlns:a="http://schemas.openxmlformats.org/drawingml/2006/main" noGrp="1"/>
          </p:cNvSpPr>
          <p:nvPr/>
        </p:nvSpPr>
        <p:spPr>
          <a:xfrm xmlns:a="http://schemas.openxmlformats.org/drawingml/2006/main">
            <a:off x="7162800" y="2838450"/>
            <a:ext cx="440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51E"/>
                </a:solidFill>
                <a:latin typeface="Arial"/>
                <a:ea typeface="Arial"/>
                <a:cs typeface="Arial"/>
              </a:defRPr>
            </a:pPr>
            <a:r>
              <a:rPr sz="1950" b="0">
                <a:solidFill>
                  <a:srgbClr val="16251E"/>
                </a:solidFill>
                <a:latin typeface="Arial"/>
                <a:ea typeface="Arial"/>
                <a:cs typeface="Arial"/>
              </a:rPr>
              <a:t>Reported all-team mean</a:t>
            </a:r>
          </a:p>
        </p:txBody>
      </p:sp>
      <p:sp>
        <p:nvSpPr>
          <p:cNvPr id="7" name="">
            <a:extLst xmlns:a="http://schemas.openxmlformats.org/drawingml/2006/main">
              <a:ext uri="{FF2B5EF4-FFF2-40B4-BE49-F238E27FC236}">
                <a16:creationId xmlns:a16="http://schemas.microsoft.com/office/drawing/2014/main" id="{8FA17F30-C0F0-4BB7-A7D6-99109BADDBDA}"/>
              </a:ext>
            </a:extLst>
          </p:cNvPr>
          <p:cNvSpPr>
            <a:spLocks xmlns:a="http://schemas.openxmlformats.org/drawingml/2006/main" noGrp="1"/>
          </p:cNvSpPr>
          <p:nvPr/>
        </p:nvSpPr>
        <p:spPr>
          <a:xfrm xmlns:a="http://schemas.openxmlformats.org/drawingml/2006/main">
            <a:off x="609600" y="3914775"/>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6251E"/>
                </a:solidFill>
                <a:latin typeface="Arial"/>
                <a:ea typeface="Arial"/>
                <a:cs typeface="Arial"/>
              </a:defRPr>
            </a:pPr>
            <a:r>
              <a:rPr sz="2925" b="1">
                <a:solidFill>
                  <a:srgbClr val="16251E"/>
                </a:solidFill>
                <a:latin typeface="Arial"/>
                <a:ea typeface="Arial"/>
                <a:cs typeface="Arial"/>
              </a:rPr>
              <a:t>“LLM Calling is an interesting idea -</a:t>
            </a:r>
          </a:p>
          <a:p xmlns:a="http://schemas.openxmlformats.org/drawingml/2006/main">
            <a:pPr>
              <a:defRPr sz="2925" b="1">
                <a:solidFill>
                  <a:srgbClr val="16251E"/>
                </a:solidFill>
                <a:latin typeface="Arial"/>
                <a:ea typeface="Arial"/>
                <a:cs typeface="Arial"/>
              </a:defRPr>
            </a:pPr>
            <a:r>
              <a:rPr sz="2925" b="1">
                <a:solidFill>
                  <a:srgbClr val="16251E"/>
                </a:solidFill>
                <a:latin typeface="Arial"/>
                <a:ea typeface="Arial"/>
                <a:cs typeface="Arial"/>
              </a:rPr>
              <a:t>but consider cost of implementations.”</a:t>
            </a:r>
          </a:p>
        </p:txBody>
      </p:sp>
      <p:sp>
        <p:nvSpPr>
          <p:cNvPr id="8" name="">
            <a:extLst xmlns:a="http://schemas.openxmlformats.org/drawingml/2006/main">
              <a:ext uri="{FF2B5EF4-FFF2-40B4-BE49-F238E27FC236}">
                <a16:creationId xmlns:a16="http://schemas.microsoft.com/office/drawing/2014/main" id="{31EA103D-4C78-4088-B432-7EAB1909DF05}"/>
              </a:ext>
            </a:extLst>
          </p:cNvPr>
          <p:cNvSpPr>
            <a:spLocks xmlns:a="http://schemas.openxmlformats.org/drawingml/2006/main" noGrp="1"/>
          </p:cNvSpPr>
          <p:nvPr/>
        </p:nvSpPr>
        <p:spPr>
          <a:xfrm xmlns:a="http://schemas.openxmlformats.org/drawingml/2006/main">
            <a:off x="609600" y="58007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README-reported results. Cost measurement and evaluation rigor are priorities for the next iteration.</a:t>
            </a:r>
          </a:p>
        </p:txBody>
      </p:sp>
    </p:spTree>
    <p:extLst>
      <p:ext uri="{BB962C8B-B14F-4D97-AF65-F5344CB8AC3E}">
        <p14:creationId xmlns:p14="http://schemas.microsoft.com/office/powerpoint/2010/main" val="731993118"/>
      </p:ext>
    </p:extLst>
  </p:cSld>
</p:sld>
</file>

<file path=ppt/slides/slide1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7A7FBF-889F-4BA6-88A1-EEF4C265AFDC}"/>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Proposed pilot</a:t>
            </a:r>
          </a:p>
        </p:txBody>
      </p:sp>
      <p:sp>
        <p:nvSpPr>
          <p:cNvPr id="2" name="">
            <a:extLst xmlns:a="http://schemas.openxmlformats.org/drawingml/2006/main">
              <a:ext uri="{FF2B5EF4-FFF2-40B4-BE49-F238E27FC236}">
                <a16:creationId xmlns:a16="http://schemas.microsoft.com/office/drawing/2014/main" id="{1A14A9CC-BE83-4EC2-8D86-717C80DCE2CD}"/>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14</a:t>
            </a:r>
          </a:p>
        </p:txBody>
      </p:sp>
      <p:graphicFrame>
        <p:nvGraphicFramePr>
          <p:cNvPr id="7" name=""/>
          <p:cNvGraphicFramePr/>
          <p:nvPr/>
        </p:nvGraphicFramePr>
        <p:xfrm>
          <a:off xmlns:a="http://schemas.openxmlformats.org/drawingml/2006/main" x="609600" y="1790700"/>
          <a:ext xmlns:a="http://schemas.openxmlformats.org/drawingml/2006/main" cx="10972800" cy="3562350"/>
        </p:xfrm>
        <a:graphic xmlns:a="http://schemas.openxmlformats.org/drawingml/2006/main">
          <a:graphicData uri="http://schemas.openxmlformats.org/drawingml/2006/table">
            <a:tbl>
              <a:tblPr/>
              <a:tblGrid>
                <a:gridCol w="2619375"/>
                <a:gridCol w="4000500"/>
                <a:gridCol w="4352925"/>
              </a:tblGrid>
              <a:tr h="890588">
                <a:tc>
                  <a:txBody>
                    <a:bodyPr/>
                    <a:lstStyle/>
                    <a:p>
                      <a:r>
                        <a:rPr sz="1800" b="1">
                          <a:solidFill>
                            <a:srgbClr val="FFFFFF"/>
                          </a:solidFill>
                          <a:latin typeface="Arial"/>
                          <a:ea typeface="Arial"/>
                          <a:cs typeface="Arial"/>
                        </a:rPr>
                        <a:t>Phase</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Work</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Evidence for the next decision</a:t>
                      </a:r>
                    </a:p>
                  </a:txBody>
                  <a:tcPr marL="142875" marR="142875" marT="114300" marB="95250" anchor="ctr">
                    <a:solidFill>
                      <a:srgbClr val="16251E"/>
                    </a:solidFill>
                  </a:tcPr>
                </a:tc>
              </a:tr>
              <a:tr h="890588">
                <a:tc>
                  <a:txBody>
                    <a:bodyPr/>
                    <a:lstStyle/>
                    <a:p>
                      <a:r>
                        <a:rPr sz="1800">
                          <a:solidFill>
                            <a:srgbClr val="16251E"/>
                          </a:solidFill>
                          <a:latin typeface="Arial"/>
                          <a:ea typeface="Arial"/>
                          <a:cs typeface="Arial"/>
                        </a:rPr>
                        <a:t>Repair and benchmark</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Fix extraction and reproduce a common model test.</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Reliable output and a valid baseline comparison</a:t>
                      </a:r>
                    </a:p>
                  </a:txBody>
                  <a:tcPr marL="142875" marR="142875" marT="114300" marB="95250" anchor="ctr">
                    <a:solidFill>
                      <a:srgbClr val="F5F6F2"/>
                    </a:solidFill>
                  </a:tcPr>
                </a:tc>
              </a:tr>
              <a:tr h="890588">
                <a:tc>
                  <a:txBody>
                    <a:bodyPr/>
                    <a:lstStyle/>
                    <a:p>
                      <a:r>
                        <a:rPr sz="1800">
                          <a:solidFill>
                            <a:srgbClr val="16251E"/>
                          </a:solidFill>
                          <a:latin typeface="Arial"/>
                          <a:ea typeface="Arial"/>
                          <a:cs typeface="Arial"/>
                        </a:rPr>
                        <a:t>Staff label review</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Coordinators annotate a sample of notes.</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Event precision, recall and disagreement patterns</a:t>
                      </a:r>
                    </a:p>
                  </a:txBody>
                  <a:tcPr marL="142875" marR="142875" marT="114300" marB="95250" anchor="ctr">
                    <a:solidFill>
                      <a:srgbClr val="F5F6F2"/>
                    </a:solidFill>
                  </a:tcPr>
                </a:tc>
              </a:tr>
              <a:tr h="890588">
                <a:tc>
                  <a:txBody>
                    <a:bodyPr/>
                    <a:lstStyle/>
                    <a:p>
                      <a:r>
                        <a:rPr sz="1800">
                          <a:solidFill>
                            <a:srgbClr val="16251E"/>
                          </a:solidFill>
                          <a:latin typeface="Arial"/>
                          <a:ea typeface="Arial"/>
                          <a:cs typeface="Arial"/>
                        </a:rPr>
                        <a:t>Limited pilot</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Staff review suggested signals during normal work.</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Review time, alert burden and cost per match</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D139712A-84F2-400E-B409-98EB3EA437B6}"/>
              </a:ext>
            </a:extLst>
          </p:cNvPr>
          <p:cNvSpPr>
            <a:spLocks xmlns:a="http://schemas.openxmlformats.org/drawingml/2006/main" noGrp="1"/>
          </p:cNvSpPr>
          <p:nvPr/>
        </p:nvSpPr>
        <p:spPr>
          <a:xfrm xmlns:a="http://schemas.openxmlformats.org/drawingml/2006/main">
            <a:off x="609600" y="58864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BBB stakeholders set the success thresholds before the pilot begins.</a:t>
            </a:r>
          </a:p>
        </p:txBody>
      </p:sp>
    </p:spTree>
    <p:extLst>
      <p:ext uri="{BB962C8B-B14F-4D97-AF65-F5344CB8AC3E}">
        <p14:creationId xmlns:p14="http://schemas.microsoft.com/office/powerpoint/2010/main" val="1067423365"/>
      </p:ext>
    </p:extLst>
  </p:cSld>
</p:sld>
</file>

<file path=ppt/slides/slide15.xml><?xml version="1.0" encoding="utf-8"?>
<p:sld xmlns:p="http://schemas.openxmlformats.org/presentationml/2006/main">
  <p:cSld>
    <p:bg>
      <p:bgPr>
        <a:solidFill xmlns:a="http://schemas.openxmlformats.org/drawingml/2006/main">
          <a:srgbClr val="101B1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4D0279-B3F1-4757-9C5C-FE140FE06F68}"/>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Pilot decision</a:t>
            </a:r>
          </a:p>
        </p:txBody>
      </p:sp>
      <p:sp>
        <p:nvSpPr>
          <p:cNvPr id="2" name="">
            <a:extLst xmlns:a="http://schemas.openxmlformats.org/drawingml/2006/main">
              <a:ext uri="{FF2B5EF4-FFF2-40B4-BE49-F238E27FC236}">
                <a16:creationId xmlns:a16="http://schemas.microsoft.com/office/drawing/2014/main" id="{BDC3A190-DA9E-40BE-A756-21013A9991E5}"/>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B7AA"/>
                </a:solidFill>
                <a:latin typeface="Arial"/>
                <a:ea typeface="Arial"/>
                <a:cs typeface="Arial"/>
              </a:defRPr>
            </a:pPr>
            <a:r>
              <a:rPr sz="1200" b="0">
                <a:solidFill>
                  <a:srgbClr val="A5B7A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CBA7C53A-BE94-407D-97F4-E219D09E44DE}"/>
              </a:ext>
            </a:extLst>
          </p:cNvPr>
          <p:cNvSpPr>
            <a:spLocks xmlns:a="http://schemas.openxmlformats.org/drawingml/2006/main" noGrp="1"/>
          </p:cNvSpPr>
          <p:nvPr/>
        </p:nvSpPr>
        <p:spPr>
          <a:xfrm xmlns:a="http://schemas.openxmlformats.org/drawingml/2006/main">
            <a:off x="609600" y="184785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A limited pilot with</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coordinator review</a:t>
            </a:r>
          </a:p>
        </p:txBody>
      </p:sp>
      <p:sp>
        <p:nvSpPr>
          <p:cNvPr id="4" name="">
            <a:extLst xmlns:a="http://schemas.openxmlformats.org/drawingml/2006/main">
              <a:ext uri="{FF2B5EF4-FFF2-40B4-BE49-F238E27FC236}">
                <a16:creationId xmlns:a16="http://schemas.microsoft.com/office/drawing/2014/main" id="{FEEBA3DD-1CB5-4380-B054-AC4CD6FFEB7B}"/>
              </a:ext>
            </a:extLst>
          </p:cNvPr>
          <p:cNvSpPr>
            <a:spLocks xmlns:a="http://schemas.openxmlformats.org/drawingml/2006/main" noGrp="1"/>
          </p:cNvSpPr>
          <p:nvPr/>
        </p:nvSpPr>
        <p:spPr>
          <a:xfrm xmlns:a="http://schemas.openxmlformats.org/drawingml/2006/main">
            <a:off x="647700" y="39338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CCDC2"/>
                </a:solidFill>
                <a:latin typeface="Arial"/>
                <a:ea typeface="Arial"/>
                <a:cs typeface="Arial"/>
              </a:defRPr>
            </a:pPr>
            <a:r>
              <a:rPr sz="2400" b="0">
                <a:solidFill>
                  <a:srgbClr val="BCCDC2"/>
                </a:solidFill>
                <a:latin typeface="Arial"/>
                <a:ea typeface="Arial"/>
                <a:cs typeface="Arial"/>
              </a:rPr>
              <a:t>The repository demonstrates a way to structure support notes</a:t>
            </a:r>
          </a:p>
          <a:p xmlns:a="http://schemas.openxmlformats.org/drawingml/2006/main">
            <a:pPr>
              <a:defRPr sz="2400" b="0">
                <a:solidFill>
                  <a:srgbClr val="BCCDC2"/>
                </a:solidFill>
                <a:latin typeface="Arial"/>
                <a:ea typeface="Arial"/>
                <a:cs typeface="Arial"/>
              </a:defRPr>
            </a:pPr>
            <a:r>
              <a:rPr sz="2400" b="0">
                <a:solidFill>
                  <a:srgbClr val="BCCDC2"/>
                </a:solidFill>
                <a:latin typeface="Arial"/>
                <a:ea typeface="Arial"/>
                <a:cs typeface="Arial"/>
              </a:rPr>
              <a:t>and explore match patterns.</a:t>
            </a:r>
          </a:p>
        </p:txBody>
      </p:sp>
      <p:sp>
        <p:nvSpPr>
          <p:cNvPr id="5" name="">
            <a:extLst xmlns:a="http://schemas.openxmlformats.org/drawingml/2006/main">
              <a:ext uri="{FF2B5EF4-FFF2-40B4-BE49-F238E27FC236}">
                <a16:creationId xmlns:a16="http://schemas.microsoft.com/office/drawing/2014/main" id="{F1B92419-5042-4732-9766-4D71A6004187}"/>
              </a:ext>
            </a:extLst>
          </p:cNvPr>
          <p:cNvSpPr>
            <a:spLocks xmlns:a="http://schemas.openxmlformats.org/drawingml/2006/main" noGrp="1"/>
          </p:cNvSpPr>
          <p:nvPr/>
        </p:nvSpPr>
        <p:spPr>
          <a:xfrm xmlns:a="http://schemas.openxmlformats.org/drawingml/2006/main">
            <a:off x="647700" y="519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0D58B"/>
                </a:solidFill>
                <a:latin typeface="Arial"/>
                <a:ea typeface="Arial"/>
                <a:cs typeface="Arial"/>
              </a:defRPr>
            </a:pPr>
            <a:r>
              <a:rPr sz="2400" b="0">
                <a:solidFill>
                  <a:srgbClr val="00D58B"/>
                </a:solidFill>
                <a:latin typeface="Arial"/>
                <a:ea typeface="Arial"/>
                <a:cs typeface="Arial"/>
              </a:rPr>
              <a:t>The next decision depends on extraction quality,</a:t>
            </a:r>
          </a:p>
          <a:p xmlns:a="http://schemas.openxmlformats.org/drawingml/2006/main">
            <a:pPr>
              <a:defRPr sz="2400" b="0">
                <a:solidFill>
                  <a:srgbClr val="00D58B"/>
                </a:solidFill>
                <a:latin typeface="Arial"/>
                <a:ea typeface="Arial"/>
                <a:cs typeface="Arial"/>
              </a:defRPr>
            </a:pPr>
            <a:r>
              <a:rPr sz="2400" b="0">
                <a:solidFill>
                  <a:srgbClr val="00D58B"/>
                </a:solidFill>
                <a:latin typeface="Arial"/>
                <a:ea typeface="Arial"/>
                <a:cs typeface="Arial"/>
              </a:rPr>
              <a:t>independent model results and operating cost.</a:t>
            </a:r>
          </a:p>
        </p:txBody>
      </p:sp>
    </p:spTree>
    <p:extLst>
      <p:ext uri="{BB962C8B-B14F-4D97-AF65-F5344CB8AC3E}">
        <p14:creationId xmlns:p14="http://schemas.microsoft.com/office/powerpoint/2010/main" val="653429605"/>
      </p:ext>
    </p:extLst>
  </p:cSld>
</p:sld>
</file>

<file path=ppt/slides/slide1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195439-B7EE-4A3F-A447-2CB96C3C7CBD}"/>
              </a:ext>
            </a:extLst>
          </p:cNvPr>
          <p:cNvSpPr>
            <a:spLocks xmlns:a="http://schemas.openxmlformats.org/drawingml/2006/main" noGrp="1"/>
          </p:cNvSpPr>
          <p:nvPr/>
        </p:nvSpPr>
        <p:spPr>
          <a:xfrm xmlns:a="http://schemas.openxmlformats.org/drawingml/2006/main">
            <a:off x="609600" y="4762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51E"/>
                </a:solidFill>
                <a:latin typeface="Arial"/>
                <a:ea typeface="Arial"/>
                <a:cs typeface="Arial"/>
              </a:defRPr>
            </a:pPr>
            <a:r>
              <a:rPr sz="3450" b="1">
                <a:solidFill>
                  <a:srgbClr val="16251E"/>
                </a:solidFill>
                <a:latin typeface="Arial"/>
                <a:ea typeface="Arial"/>
                <a:cs typeface="Arial"/>
              </a:rPr>
              <a:t>Appendix: implementation priorities</a:t>
            </a:r>
          </a:p>
        </p:txBody>
      </p:sp>
      <p:sp>
        <p:nvSpPr>
          <p:cNvPr id="2" name="">
            <a:extLst xmlns:a="http://schemas.openxmlformats.org/drawingml/2006/main">
              <a:ext uri="{FF2B5EF4-FFF2-40B4-BE49-F238E27FC236}">
                <a16:creationId xmlns:a16="http://schemas.microsoft.com/office/drawing/2014/main" id="{06514611-2F30-4593-A262-32892C7F66F9}"/>
              </a:ext>
            </a:extLst>
          </p:cNvPr>
          <p:cNvSpPr>
            <a:spLocks xmlns:a="http://schemas.openxmlformats.org/drawingml/2006/main" noGrp="1"/>
          </p:cNvSpPr>
          <p:nvPr/>
        </p:nvSpPr>
        <p:spPr>
          <a:xfrm xmlns:a="http://schemas.openxmlformats.org/drawingml/2006/main">
            <a:off x="11144250"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45A"/>
                </a:solidFill>
                <a:latin typeface="Arial"/>
                <a:ea typeface="Arial"/>
                <a:cs typeface="Arial"/>
              </a:defRPr>
            </a:pPr>
            <a:r>
              <a:rPr sz="1200" b="0">
                <a:solidFill>
                  <a:srgbClr val="52645A"/>
                </a:solidFill>
                <a:latin typeface="Arial"/>
                <a:ea typeface="Arial"/>
                <a:cs typeface="Arial"/>
              </a:rPr>
              <a:t>16</a:t>
            </a:r>
          </a:p>
        </p:txBody>
      </p:sp>
      <p:graphicFrame>
        <p:nvGraphicFramePr>
          <p:cNvPr id="7" name=""/>
          <p:cNvGraphicFramePr/>
          <p:nvPr/>
        </p:nvGraphicFramePr>
        <p:xfrm>
          <a:off xmlns:a="http://schemas.openxmlformats.org/drawingml/2006/main" x="609600" y="1733550"/>
          <a:ext xmlns:a="http://schemas.openxmlformats.org/drawingml/2006/main" cx="10972800" cy="3676650"/>
        </p:xfrm>
        <a:graphic xmlns:a="http://schemas.openxmlformats.org/drawingml/2006/main">
          <a:graphicData uri="http://schemas.openxmlformats.org/drawingml/2006/table">
            <a:tbl>
              <a:tblPr/>
              <a:tblGrid>
                <a:gridCol w="3076575"/>
                <a:gridCol w="7896225"/>
              </a:tblGrid>
              <a:tr h="735330">
                <a:tc>
                  <a:txBody>
                    <a:bodyPr/>
                    <a:lstStyle/>
                    <a:p>
                      <a:r>
                        <a:rPr sz="1800" b="1">
                          <a:solidFill>
                            <a:srgbClr val="FFFFFF"/>
                          </a:solidFill>
                          <a:latin typeface="Arial"/>
                          <a:ea typeface="Arial"/>
                          <a:cs typeface="Arial"/>
                        </a:rPr>
                        <a:t>Priority</a:t>
                      </a:r>
                    </a:p>
                  </a:txBody>
                  <a:tcPr marL="142875" marR="142875" marT="114300" marB="95250" anchor="ctr">
                    <a:solidFill>
                      <a:srgbClr val="16251E"/>
                    </a:solidFill>
                  </a:tcPr>
                </a:tc>
                <a:tc>
                  <a:txBody>
                    <a:bodyPr/>
                    <a:lstStyle/>
                    <a:p>
                      <a:r>
                        <a:rPr sz="1800" b="1">
                          <a:solidFill>
                            <a:srgbClr val="FFFFFF"/>
                          </a:solidFill>
                          <a:latin typeface="Arial"/>
                          <a:ea typeface="Arial"/>
                          <a:cs typeface="Arial"/>
                        </a:rPr>
                        <a:t>Required work</a:t>
                      </a:r>
                    </a:p>
                  </a:txBody>
                  <a:tcPr marL="142875" marR="142875" marT="114300" marB="95250" anchor="ctr">
                    <a:solidFill>
                      <a:srgbClr val="16251E"/>
                    </a:solidFill>
                  </a:tcPr>
                </a:tc>
              </a:tr>
              <a:tr h="735330">
                <a:tc>
                  <a:txBody>
                    <a:bodyPr/>
                    <a:lstStyle/>
                    <a:p>
                      <a:r>
                        <a:rPr sz="1800">
                          <a:solidFill>
                            <a:srgbClr val="16251E"/>
                          </a:solidFill>
                          <a:latin typeface="Arial"/>
                          <a:ea typeface="Arial"/>
                          <a:cs typeface="Arial"/>
                        </a:rPr>
                        <a:t>Credential handling</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Revoke the exposed key and load secrets only from the environment.</a:t>
                      </a:r>
                    </a:p>
                  </a:txBody>
                  <a:tcPr marL="142875" marR="142875" marT="114300" marB="95250" anchor="ctr">
                    <a:solidFill>
                      <a:srgbClr val="F5F6F2"/>
                    </a:solidFill>
                  </a:tcPr>
                </a:tc>
              </a:tr>
              <a:tr h="735330">
                <a:tc>
                  <a:txBody>
                    <a:bodyPr/>
                    <a:lstStyle/>
                    <a:p>
                      <a:r>
                        <a:rPr sz="1800">
                          <a:solidFill>
                            <a:srgbClr val="16251E"/>
                          </a:solidFill>
                          <a:latin typeface="Arial"/>
                          <a:ea typeface="Arial"/>
                          <a:cs typeface="Arial"/>
                        </a:rPr>
                        <a:t>Extraction reliability</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Normalize response lists and retain failures in the returned error ledger.</a:t>
                      </a:r>
                    </a:p>
                  </a:txBody>
                  <a:tcPr marL="142875" marR="142875" marT="114300" marB="95250" anchor="ctr">
                    <a:solidFill>
                      <a:srgbClr val="F5F6F2"/>
                    </a:solidFill>
                  </a:tcPr>
                </a:tc>
              </a:tr>
              <a:tr h="735330">
                <a:tc>
                  <a:txBody>
                    <a:bodyPr/>
                    <a:lstStyle/>
                    <a:p>
                      <a:r>
                        <a:rPr sz="1800">
                          <a:solidFill>
                            <a:srgbClr val="16251E"/>
                          </a:solidFill>
                          <a:latin typeface="Arial"/>
                          <a:ea typeface="Arial"/>
                          <a:cs typeface="Arial"/>
                        </a:rPr>
                        <a:t>Model correctness</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Select the last observed row and mask padded attention positions.</a:t>
                      </a:r>
                    </a:p>
                  </a:txBody>
                  <a:tcPr marL="142875" marR="142875" marT="114300" marB="95250" anchor="ctr">
                    <a:solidFill>
                      <a:srgbClr val="F5F6F2"/>
                    </a:solidFill>
                  </a:tcPr>
                </a:tc>
              </a:tr>
              <a:tr h="735330">
                <a:tc>
                  <a:txBody>
                    <a:bodyPr/>
                    <a:lstStyle/>
                    <a:p>
                      <a:r>
                        <a:rPr sz="1800">
                          <a:solidFill>
                            <a:srgbClr val="16251E"/>
                          </a:solidFill>
                          <a:latin typeface="Arial"/>
                          <a:ea typeface="Arial"/>
                          <a:cs typeface="Arial"/>
                        </a:rPr>
                        <a:t>Reproducibility</a:t>
                      </a:r>
                    </a:p>
                  </a:txBody>
                  <a:tcPr marL="142875" marR="142875" marT="114300" marB="95250" anchor="ctr">
                    <a:solidFill>
                      <a:srgbClr val="F5F6F2"/>
                    </a:solidFill>
                  </a:tcPr>
                </a:tc>
                <a:tc>
                  <a:txBody>
                    <a:bodyPr/>
                    <a:lstStyle/>
                    <a:p>
                      <a:r>
                        <a:rPr sz="1800">
                          <a:solidFill>
                            <a:srgbClr val="16251E"/>
                          </a:solidFill>
                          <a:latin typeface="Arial"/>
                          <a:ea typeface="Arial"/>
                          <a:cs typeface="Arial"/>
                        </a:rPr>
                        <a:t>Repair file paths and record the cohort, cutoff, configuration and usage.</a:t>
                      </a:r>
                    </a:p>
                  </a:txBody>
                  <a:tcPr marL="142875" marR="142875" marT="114300" marB="95250" anchor="ctr">
                    <a:solidFill>
                      <a:srgbClr val="F5F6F2"/>
                    </a:solidFill>
                  </a:tcPr>
                </a:tc>
              </a:tr>
            </a:tbl>
          </a:graphicData>
        </a:graphic>
      </p:graphicFrame>
      <p:sp>
        <p:nvSpPr>
          <p:cNvPr id="4" name="">
            <a:extLst xmlns:a="http://schemas.openxmlformats.org/drawingml/2006/main">
              <a:ext uri="{FF2B5EF4-FFF2-40B4-BE49-F238E27FC236}">
                <a16:creationId xmlns:a16="http://schemas.microsoft.com/office/drawing/2014/main" id="{65A1CB7A-495A-4D3F-AF98-BED0FBAC7008}"/>
              </a:ext>
            </a:extLst>
          </p:cNvPr>
          <p:cNvSpPr>
            <a:spLocks xmlns:a="http://schemas.openxmlformats.org/drawingml/2006/main" noGrp="1"/>
          </p:cNvSpPr>
          <p:nvPr/>
        </p:nvSpPr>
        <p:spPr>
          <a:xfrm xmlns:a="http://schemas.openxmlformats.org/drawingml/2006/main">
            <a:off x="609600" y="589597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45A"/>
                </a:solidFill>
                <a:latin typeface="Arial"/>
                <a:ea typeface="Arial"/>
                <a:cs typeface="Arial"/>
              </a:defRPr>
            </a:pPr>
            <a:r>
              <a:rPr sz="1425" b="0">
                <a:solidFill>
                  <a:srgbClr val="52645A"/>
                </a:solidFill>
                <a:latin typeface="Arial"/>
                <a:ea typeface="Arial"/>
                <a:cs typeface="Arial"/>
              </a:rPr>
              <a:t>Detailed evidence and source locations accompany the deck in Repository_Review.md.</a:t>
            </a:r>
          </a:p>
        </p:txBody>
      </p:sp>
    </p:spTree>
    <p:extLst>
      <p:ext uri="{BB962C8B-B14F-4D97-AF65-F5344CB8AC3E}">
        <p14:creationId xmlns:p14="http://schemas.microsoft.com/office/powerpoint/2010/main" val="879118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2026-09-30T18:24:36.3280000Z</dcterms:created>
  <dcterms:modified xsi:type="dcterms:W3CDTF">2026-09-30T18:24:36.3280000Z</dcterms:modified>
</coreProperties>
</file>